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7"/>
  </p:notesMasterIdLst>
  <p:sldIdLst>
    <p:sldId id="256" r:id="rId2"/>
    <p:sldId id="258" r:id="rId3"/>
    <p:sldId id="259" r:id="rId4"/>
    <p:sldId id="260" r:id="rId5"/>
    <p:sldId id="261" r:id="rId6"/>
    <p:sldId id="262" r:id="rId7"/>
    <p:sldId id="263" r:id="rId8"/>
    <p:sldId id="264" r:id="rId9"/>
    <p:sldId id="272" r:id="rId10"/>
    <p:sldId id="265" r:id="rId11"/>
    <p:sldId id="274" r:id="rId12"/>
    <p:sldId id="267" r:id="rId13"/>
    <p:sldId id="271" r:id="rId14"/>
    <p:sldId id="268" r:id="rId15"/>
    <p:sldId id="273" r:id="rId16"/>
  </p:sldIdLst>
  <p:sldSz cx="12192000" cy="6858000"/>
  <p:notesSz cx="6858000" cy="9144000"/>
  <p:embeddedFontLst>
    <p:embeddedFont>
      <p:font typeface="Arial Black" panose="020B0A04020102020204" pitchFamily="34" charset="0"/>
      <p:bold r:id="rId18"/>
    </p:embeddedFont>
    <p:embeddedFont>
      <p:font typeface="Calibri" panose="020F0502020204030204" pitchFamily="34" charset="0"/>
      <p:regular r:id="rId19"/>
      <p:bold r:id="rId20"/>
      <p:italic r:id="rId21"/>
      <p:boldItalic r:id="rId2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3" roundtripDataSignature="AMtx7mi4HmEECUlll0m8HTY06QsqsmZGG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5242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79" autoAdjust="0"/>
    <p:restoredTop sz="94660"/>
  </p:normalViewPr>
  <p:slideViewPr>
    <p:cSldViewPr snapToGrid="0">
      <p:cViewPr varScale="1">
        <p:scale>
          <a:sx n="86" d="100"/>
          <a:sy n="86" d="100"/>
        </p:scale>
        <p:origin x="1012" y="6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1.fntdata"/><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font" Target="fonts/font4.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3.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customschemas.google.com/relationships/presentationmetadata" Target="metadata"/><Relationship Id="rId10" Type="http://schemas.openxmlformats.org/officeDocument/2006/relationships/slide" Target="slides/slide9.xml"/><Relationship Id="rId19"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5.fntdata"/><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Calibri"/>
              <a:buNone/>
            </a:pPr>
            <a:endParaRPr/>
          </a:p>
        </p:txBody>
      </p:sp>
      <p:sp>
        <p:nvSpPr>
          <p:cNvPr id="96" name="Google Shape;9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200" b="0" i="0" u="none" strike="noStrike" cap="none" smtClean="0">
                <a:solidFill>
                  <a:schemeClr val="dk1"/>
                </a:solidFill>
                <a:latin typeface="Calibri"/>
                <a:ea typeface="Calibri"/>
                <a:cs typeface="Calibri"/>
                <a:sym typeface="Calibri"/>
              </a:rPr>
              <a:t>2</a:t>
            </a:fld>
            <a:endParaRPr lang="en-IN"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49873515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200" b="0" i="0" u="none" strike="noStrike" cap="none" smtClean="0">
                <a:solidFill>
                  <a:schemeClr val="dk1"/>
                </a:solidFill>
                <a:latin typeface="Calibri"/>
                <a:ea typeface="Calibri"/>
                <a:cs typeface="Calibri"/>
                <a:sym typeface="Calibri"/>
              </a:rPr>
              <a:t>3</a:t>
            </a:fld>
            <a:endParaRPr lang="en-IN"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68156817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200" b="0" i="0" u="none" strike="noStrike" cap="none" smtClean="0">
                <a:solidFill>
                  <a:schemeClr val="dk1"/>
                </a:solidFill>
                <a:latin typeface="Calibri"/>
                <a:ea typeface="Calibri"/>
                <a:cs typeface="Calibri"/>
                <a:sym typeface="Calibri"/>
              </a:rPr>
              <a:t>5</a:t>
            </a:fld>
            <a:endParaRPr lang="en-IN"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2388512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200" b="0" i="0" u="none" strike="noStrike" cap="none" smtClean="0">
                <a:solidFill>
                  <a:schemeClr val="dk1"/>
                </a:solidFill>
                <a:latin typeface="Calibri"/>
                <a:ea typeface="Calibri"/>
                <a:cs typeface="Calibri"/>
                <a:sym typeface="Calibri"/>
              </a:rPr>
              <a:t>6</a:t>
            </a:fld>
            <a:endParaRPr lang="en-IN"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414849109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200" b="0" i="0" u="none" strike="noStrike" cap="none" smtClean="0">
                <a:solidFill>
                  <a:schemeClr val="dk1"/>
                </a:solidFill>
                <a:latin typeface="Calibri"/>
                <a:ea typeface="Calibri"/>
                <a:cs typeface="Calibri"/>
                <a:sym typeface="Calibri"/>
              </a:rPr>
              <a:t>8</a:t>
            </a:fld>
            <a:endParaRPr lang="en-IN"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12021105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9C169F-06F6-8D6D-1DF5-DDEAE62C85C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4DB3D2-F2D9-44E8-B70A-C2C66B6DCEC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A278BD6-9C3C-9C3E-2B59-D2CD8D4AD4D1}"/>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FBC886BA-CB9F-98BE-713C-493F4876DE54}"/>
              </a:ext>
            </a:extLst>
          </p:cNvPr>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200" b="0" i="0" u="none" strike="noStrike" cap="none" smtClean="0">
                <a:solidFill>
                  <a:schemeClr val="dk1"/>
                </a:solidFill>
                <a:latin typeface="Calibri"/>
                <a:ea typeface="Calibri"/>
                <a:cs typeface="Calibri"/>
                <a:sym typeface="Calibri"/>
              </a:rPr>
              <a:t>9</a:t>
            </a:fld>
            <a:endParaRPr lang="en-IN"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85127046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200" b="0" i="0" u="none" strike="noStrike" cap="none" smtClean="0">
                <a:solidFill>
                  <a:schemeClr val="dk1"/>
                </a:solidFill>
                <a:latin typeface="Calibri"/>
                <a:ea typeface="Calibri"/>
                <a:cs typeface="Calibri"/>
                <a:sym typeface="Calibri"/>
              </a:rPr>
              <a:t>10</a:t>
            </a:fld>
            <a:endParaRPr lang="en-IN"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49419757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200" b="0" i="0" u="none" strike="noStrike" cap="none" smtClean="0">
                <a:solidFill>
                  <a:schemeClr val="dk1"/>
                </a:solidFill>
                <a:latin typeface="Calibri"/>
                <a:ea typeface="Calibri"/>
                <a:cs typeface="Calibri"/>
                <a:sym typeface="Calibri"/>
              </a:rPr>
              <a:t>11</a:t>
            </a:fld>
            <a:endParaRPr lang="en-IN"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8223746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200" b="0" i="0" u="none" strike="noStrike" cap="none" smtClean="0">
                <a:solidFill>
                  <a:schemeClr val="dk1"/>
                </a:solidFill>
                <a:latin typeface="Calibri"/>
                <a:ea typeface="Calibri"/>
                <a:cs typeface="Calibri"/>
                <a:sym typeface="Calibri"/>
              </a:rPr>
              <a:t>12</a:t>
            </a:fld>
            <a:endParaRPr lang="en-IN"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46059936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200" b="0" i="0" u="none" strike="noStrike" cap="none" smtClean="0">
                <a:solidFill>
                  <a:schemeClr val="dk1"/>
                </a:solidFill>
                <a:latin typeface="Calibri"/>
                <a:ea typeface="Calibri"/>
                <a:cs typeface="Calibri"/>
                <a:sym typeface="Calibri"/>
              </a:rPr>
              <a:t>15</a:t>
            </a:fld>
            <a:endParaRPr lang="en-IN"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30224000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5"/>
        <p:cNvGrpSpPr/>
        <p:nvPr/>
      </p:nvGrpSpPr>
      <p:grpSpPr>
        <a:xfrm>
          <a:off x="0" y="0"/>
          <a:ext cx="0" cy="0"/>
          <a:chOff x="0" y="0"/>
          <a:chExt cx="0" cy="0"/>
        </a:xfrm>
      </p:grpSpPr>
      <p:sp>
        <p:nvSpPr>
          <p:cNvPr id="16" name="Google Shape;16;p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20" name="Google Shape;20;p7"/>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1"/>
        <p:cNvGrpSpPr/>
        <p:nvPr/>
      </p:nvGrpSpPr>
      <p:grpSpPr>
        <a:xfrm>
          <a:off x="0" y="0"/>
          <a:ext cx="0" cy="0"/>
          <a:chOff x="0" y="0"/>
          <a:chExt cx="0" cy="0"/>
        </a:xfrm>
      </p:grpSpPr>
      <p:sp>
        <p:nvSpPr>
          <p:cNvPr id="22" name="Google Shape;22;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25" name="Google Shape;25;p9"/>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6"/>
        <p:cNvGrpSpPr/>
        <p:nvPr/>
      </p:nvGrpSpPr>
      <p:grpSpPr>
        <a:xfrm>
          <a:off x="0" y="0"/>
          <a:ext cx="0" cy="0"/>
          <a:chOff x="0" y="0"/>
          <a:chExt cx="0" cy="0"/>
        </a:xfrm>
      </p:grpSpPr>
      <p:sp>
        <p:nvSpPr>
          <p:cNvPr id="27" name="Google Shape;27;p1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10"/>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9" name="Google Shape;29;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32" name="Google Shape;32;p10"/>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33"/>
        <p:cNvGrpSpPr/>
        <p:nvPr/>
      </p:nvGrpSpPr>
      <p:grpSpPr>
        <a:xfrm>
          <a:off x="0" y="0"/>
          <a:ext cx="0" cy="0"/>
          <a:chOff x="0" y="0"/>
          <a:chExt cx="0" cy="0"/>
        </a:xfrm>
      </p:grpSpPr>
      <p:sp>
        <p:nvSpPr>
          <p:cNvPr id="34" name="Google Shape;34;p8"/>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8"/>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36" name="Google Shape;36;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39" name="Google Shape;39;p8"/>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40"/>
        <p:cNvGrpSpPr/>
        <p:nvPr/>
      </p:nvGrpSpPr>
      <p:grpSpPr>
        <a:xfrm>
          <a:off x="0" y="0"/>
          <a:ext cx="0" cy="0"/>
          <a:chOff x="0" y="0"/>
          <a:chExt cx="0" cy="0"/>
        </a:xfrm>
      </p:grpSpPr>
      <p:sp>
        <p:nvSpPr>
          <p:cNvPr id="41" name="Google Shape;41;p11"/>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11"/>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43" name="Google Shape;43;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46" name="Google Shape;46;p11"/>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7"/>
        <p:cNvGrpSpPr/>
        <p:nvPr/>
      </p:nvGrpSpPr>
      <p:grpSpPr>
        <a:xfrm>
          <a:off x="0" y="0"/>
          <a:ext cx="0" cy="0"/>
          <a:chOff x="0" y="0"/>
          <a:chExt cx="0" cy="0"/>
        </a:xfrm>
      </p:grpSpPr>
      <p:sp>
        <p:nvSpPr>
          <p:cNvPr id="48" name="Google Shape;48;p1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9" name="Google Shape;49;p12"/>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0" name="Google Shape;50;p12"/>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1" name="Google Shape;51;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54" name="Google Shape;54;p12"/>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55"/>
        <p:cNvGrpSpPr/>
        <p:nvPr/>
      </p:nvGrpSpPr>
      <p:grpSpPr>
        <a:xfrm>
          <a:off x="0" y="0"/>
          <a:ext cx="0" cy="0"/>
          <a:chOff x="0" y="0"/>
          <a:chExt cx="0" cy="0"/>
        </a:xfrm>
      </p:grpSpPr>
      <p:sp>
        <p:nvSpPr>
          <p:cNvPr id="56" name="Google Shape;56;p13"/>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13"/>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8" name="Google Shape;58;p13"/>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9" name="Google Shape;59;p13"/>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60" name="Google Shape;60;p13"/>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1" name="Google Shape;61;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64" name="Google Shape;64;p13"/>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5"/>
        <p:cNvGrpSpPr/>
        <p:nvPr/>
      </p:nvGrpSpPr>
      <p:grpSpPr>
        <a:xfrm>
          <a:off x="0" y="0"/>
          <a:ext cx="0" cy="0"/>
          <a:chOff x="0" y="0"/>
          <a:chExt cx="0" cy="0"/>
        </a:xfrm>
      </p:grpSpPr>
      <p:sp>
        <p:nvSpPr>
          <p:cNvPr id="66" name="Google Shape;66;p14"/>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14"/>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8" name="Google Shape;68;p14"/>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72" name="Google Shape;72;p14"/>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73"/>
        <p:cNvGrpSpPr/>
        <p:nvPr/>
      </p:nvGrpSpPr>
      <p:grpSpPr>
        <a:xfrm>
          <a:off x="0" y="0"/>
          <a:ext cx="0" cy="0"/>
          <a:chOff x="0" y="0"/>
          <a:chExt cx="0" cy="0"/>
        </a:xfrm>
      </p:grpSpPr>
      <p:sp>
        <p:nvSpPr>
          <p:cNvPr id="74" name="Google Shape;74;p15"/>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5" name="Google Shape;75;p15"/>
          <p:cNvSpPr>
            <a:spLocks noGrp="1"/>
          </p:cNvSpPr>
          <p:nvPr>
            <p:ph type="pic" idx="2"/>
          </p:nvPr>
        </p:nvSpPr>
        <p:spPr>
          <a:xfrm>
            <a:off x="5183188" y="987425"/>
            <a:ext cx="6172200" cy="4873625"/>
          </a:xfrm>
          <a:prstGeom prst="rect">
            <a:avLst/>
          </a:prstGeom>
          <a:noFill/>
          <a:ln>
            <a:noFill/>
          </a:ln>
        </p:spPr>
      </p:sp>
      <p:sp>
        <p:nvSpPr>
          <p:cNvPr id="76" name="Google Shape;76;p15"/>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7" name="Google Shape;77;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80" name="Google Shape;80;p15"/>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81"/>
        <p:cNvGrpSpPr/>
        <p:nvPr/>
      </p:nvGrpSpPr>
      <p:grpSpPr>
        <a:xfrm>
          <a:off x="0" y="0"/>
          <a:ext cx="0" cy="0"/>
          <a:chOff x="0" y="0"/>
          <a:chExt cx="0" cy="0"/>
        </a:xfrm>
      </p:grpSpPr>
      <p:sp>
        <p:nvSpPr>
          <p:cNvPr id="82" name="Google Shape;82;p1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16"/>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4" name="Google Shape;84;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5" name="Google Shape;85;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6" name="Google Shape;86;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87" name="Google Shape;87;p16"/>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8"/>
        <p:cNvGrpSpPr/>
        <p:nvPr/>
      </p:nvGrpSpPr>
      <p:grpSpPr>
        <a:xfrm>
          <a:off x="0" y="0"/>
          <a:ext cx="0" cy="0"/>
          <a:chOff x="0" y="0"/>
          <a:chExt cx="0" cy="0"/>
        </a:xfrm>
      </p:grpSpPr>
      <p:sp>
        <p:nvSpPr>
          <p:cNvPr id="89" name="Google Shape;89;p17"/>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0" name="Google Shape;90;p17"/>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1" name="Google Shape;91;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2" name="Google Shape;92;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3" name="Google Shape;93;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hyperlink" Target="https://www.linkedin.com/in/appaji-sree-dharma-shasta-rao-33133129b/" TargetMode="Externa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hyperlink" Target="https://www.bikewale.com/" TargetMode="Externa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7.xml"/><Relationship Id="rId5" Type="http://schemas.openxmlformats.org/officeDocument/2006/relationships/image" Target="../media/image8.png"/><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openxmlformats.org/officeDocument/2006/relationships/image" Target="../media/image12.png"/></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7.xml"/><Relationship Id="rId4" Type="http://schemas.openxmlformats.org/officeDocument/2006/relationships/image" Target="../media/image13.png"/></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7.xml"/><Relationship Id="rId4" Type="http://schemas.openxmlformats.org/officeDocument/2006/relationships/image" Target="../media/image1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pic>
        <p:nvPicPr>
          <p:cNvPr id="98" name="Google Shape;98;p1"/>
          <p:cNvPicPr preferRelativeResize="0"/>
          <p:nvPr/>
        </p:nvPicPr>
        <p:blipFill rotWithShape="1">
          <a:blip r:embed="rId3">
            <a:alphaModFix/>
          </a:blip>
          <a:srcRect/>
          <a:stretch/>
        </p:blipFill>
        <p:spPr>
          <a:xfrm>
            <a:off x="0" y="0"/>
            <a:ext cx="12190815" cy="6260123"/>
          </a:xfrm>
          <a:prstGeom prst="rect">
            <a:avLst/>
          </a:prstGeom>
          <a:noFill/>
          <a:ln>
            <a:noFill/>
          </a:ln>
        </p:spPr>
      </p:pic>
      <p:sp>
        <p:nvSpPr>
          <p:cNvPr id="101" name="TextBox 100"/>
          <p:cNvSpPr txBox="1"/>
          <p:nvPr/>
        </p:nvSpPr>
        <p:spPr>
          <a:xfrm>
            <a:off x="2862913" y="3429000"/>
            <a:ext cx="6464987" cy="2277547"/>
          </a:xfrm>
          <a:prstGeom prst="rect">
            <a:avLst/>
          </a:prstGeom>
          <a:noFill/>
        </p:spPr>
        <p:txBody>
          <a:bodyPr wrap="square" anchor="ctr">
            <a:spAutoFit/>
          </a:bodyPr>
          <a:lstStyle/>
          <a:p>
            <a:pPr algn="ctr">
              <a:spcAft>
                <a:spcPts val="500"/>
              </a:spcAft>
              <a:defRPr sz="2800" b="1">
                <a:solidFill>
                  <a:srgbClr val="262626"/>
                </a:solidFill>
                <a:latin typeface="Aptos"/>
              </a:defRPr>
            </a:pPr>
            <a:r>
              <a:rPr lang="en-IN" sz="3200" dirty="0">
                <a:effectLst>
                  <a:outerShdw blurRad="38100" dist="38100" dir="2700000" algn="tl">
                    <a:srgbClr val="000000">
                      <a:alpha val="43137"/>
                    </a:srgbClr>
                  </a:outerShdw>
                </a:effectLst>
              </a:rPr>
              <a:t>INDIAN BIKE MARKET ANALYSIS</a:t>
            </a:r>
          </a:p>
          <a:p>
            <a:pPr algn="ctr">
              <a:spcAft>
                <a:spcPts val="500"/>
              </a:spcAft>
              <a:defRPr sz="2800" b="1">
                <a:solidFill>
                  <a:srgbClr val="262626"/>
                </a:solidFill>
                <a:latin typeface="Aptos"/>
              </a:defRPr>
            </a:pPr>
            <a:r>
              <a:rPr lang="en-US" sz="1800" dirty="0"/>
              <a:t>Finding suitable bikes by comparing price and technical features</a:t>
            </a:r>
            <a:endParaRPr lang="en-IN" sz="2400" dirty="0">
              <a:effectLst>
                <a:outerShdw blurRad="38100" dist="38100" dir="2700000" algn="tl">
                  <a:srgbClr val="000000">
                    <a:alpha val="43137"/>
                  </a:srgbClr>
                </a:outerShdw>
              </a:effectLst>
            </a:endParaRPr>
          </a:p>
          <a:p>
            <a:pPr algn="ctr">
              <a:spcAft>
                <a:spcPts val="500"/>
              </a:spcAft>
              <a:defRPr sz="1900" b="1">
                <a:solidFill>
                  <a:srgbClr val="D5242B"/>
                </a:solidFill>
                <a:latin typeface="Aptos"/>
              </a:defRPr>
            </a:pPr>
            <a:r>
              <a:rPr sz="2000" dirty="0">
                <a:effectLst>
                  <a:outerShdw blurRad="38100" dist="38100" dir="2700000" algn="tl">
                    <a:srgbClr val="000000">
                      <a:alpha val="43137"/>
                    </a:srgbClr>
                  </a:outerShdw>
                </a:effectLst>
              </a:rPr>
              <a:t>EDA &amp; WEB SCRAPING PROJECT</a:t>
            </a:r>
          </a:p>
          <a:p>
            <a:pPr algn="ctr">
              <a:spcAft>
                <a:spcPts val="500"/>
              </a:spcAft>
              <a:defRPr sz="1500" b="1">
                <a:solidFill>
                  <a:srgbClr val="262626"/>
                </a:solidFill>
                <a:latin typeface="Aptos"/>
              </a:defRPr>
            </a:pPr>
            <a:r>
              <a:rPr lang="en-IN" sz="1600" dirty="0">
                <a:effectLst>
                  <a:outerShdw blurRad="38100" dist="38100" dir="2700000" algn="tl">
                    <a:srgbClr val="000000">
                      <a:alpha val="43137"/>
                    </a:srgbClr>
                  </a:outerShdw>
                </a:effectLst>
              </a:rPr>
              <a:t>APPAJI SREE DHARMA SHASTA RAO</a:t>
            </a:r>
            <a:endParaRPr sz="1600" dirty="0">
              <a:effectLst>
                <a:outerShdw blurRad="38100" dist="38100" dir="2700000" algn="tl">
                  <a:srgbClr val="000000">
                    <a:alpha val="43137"/>
                  </a:srgbClr>
                </a:outerShdw>
              </a:effectLst>
            </a:endParaRPr>
          </a:p>
          <a:p>
            <a:pPr algn="ctr">
              <a:spcAft>
                <a:spcPts val="500"/>
              </a:spcAft>
              <a:defRPr sz="1000" b="0">
                <a:solidFill>
                  <a:srgbClr val="5C5C5C"/>
                </a:solidFill>
                <a:latin typeface="Aptos"/>
              </a:defRPr>
            </a:pPr>
            <a:r>
              <a:rPr lang="en-IN" sz="1050" dirty="0">
                <a:effectLst>
                  <a:outerShdw blurRad="38100" dist="38100" dir="2700000" algn="tl">
                    <a:srgbClr val="000000">
                      <a:alpha val="43137"/>
                    </a:srgbClr>
                  </a:outerShdw>
                </a:effectLst>
              </a:rPr>
              <a:t>CSE AIML(BTech)</a:t>
            </a:r>
          </a:p>
          <a:p>
            <a:pPr algn="ctr">
              <a:spcAft>
                <a:spcPts val="500"/>
              </a:spcAft>
              <a:defRPr sz="1000" b="0">
                <a:solidFill>
                  <a:srgbClr val="5C5C5C"/>
                </a:solidFill>
                <a:latin typeface="Aptos"/>
              </a:defRPr>
            </a:pPr>
            <a:r>
              <a:rPr lang="en-US" sz="1000" dirty="0"/>
              <a:t>Tools: Python, Requests, </a:t>
            </a:r>
            <a:r>
              <a:rPr lang="en-US" sz="1000" dirty="0" err="1"/>
              <a:t>BeautifulSoup</a:t>
            </a:r>
            <a:r>
              <a:rPr lang="en-US" sz="1000" dirty="0"/>
              <a:t>, Pandas, Matplotlib and Seaborn</a:t>
            </a:r>
            <a:endParaRPr lang="en-IN" sz="800" dirty="0">
              <a:effectLst>
                <a:outerShdw blurRad="38100" dist="38100" dir="2700000" algn="tl">
                  <a:srgbClr val="000000">
                    <a:alpha val="43137"/>
                  </a:srgbClr>
                </a:outerShdw>
              </a:effectLst>
            </a:endParaRPr>
          </a:p>
          <a:p>
            <a:pPr algn="ctr">
              <a:spcAft>
                <a:spcPts val="500"/>
              </a:spcAft>
              <a:defRPr sz="1000" b="0">
                <a:solidFill>
                  <a:srgbClr val="5C5C5C"/>
                </a:solidFill>
                <a:latin typeface="Aptos"/>
              </a:defRPr>
            </a:pPr>
            <a:r>
              <a:rPr sz="1050" dirty="0">
                <a:effectLst>
                  <a:outerShdw blurRad="38100" dist="38100" dir="2700000" algn="tl">
                    <a:srgbClr val="000000">
                      <a:alpha val="43137"/>
                    </a:srgbClr>
                  </a:outerShdw>
                </a:effectLst>
              </a:rPr>
              <a:t>LinkedIn:</a:t>
            </a:r>
            <a:r>
              <a:rPr lang="en-IN" sz="1050" dirty="0">
                <a:effectLst>
                  <a:outerShdw blurRad="38100" dist="38100" dir="2700000" algn="tl">
                    <a:srgbClr val="000000">
                      <a:alpha val="43137"/>
                    </a:srgbClr>
                  </a:outerShdw>
                </a:effectLst>
              </a:rPr>
              <a:t> </a:t>
            </a:r>
            <a:r>
              <a:rPr lang="en-IN" sz="1050" dirty="0">
                <a:effectLst>
                  <a:outerShdw blurRad="38100" dist="38100" dir="2700000" algn="tl">
                    <a:srgbClr val="000000">
                      <a:alpha val="43137"/>
                    </a:srgbClr>
                  </a:outerShdw>
                </a:effectLst>
                <a:hlinkClick r:id="rId4"/>
              </a:rPr>
              <a:t>https://www.linkedin.com/in/appaji-sree-dharma-shasta-rao-33133129b/</a:t>
            </a:r>
            <a:endParaRPr sz="1050" dirty="0">
              <a:effectLst>
                <a:outerShdw blurRad="38100" dist="38100" dir="2700000" algn="tl">
                  <a:srgbClr val="000000">
                    <a:alpha val="43137"/>
                  </a:srgbClr>
                </a:outerShdw>
              </a:effectLst>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p:nvPr/>
        </p:nvSpPr>
        <p:spPr>
          <a:xfrm>
            <a:off x="1845628" y="412267"/>
            <a:ext cx="9509760" cy="523220"/>
          </a:xfrm>
          <a:prstGeom prst="rect">
            <a:avLst/>
          </a:prstGeom>
          <a:noFill/>
        </p:spPr>
        <p:txBody>
          <a:bodyPr wrap="square" anchor="t">
            <a:spAutoFit/>
          </a:bodyPr>
          <a:lstStyle/>
          <a:p>
            <a:pPr>
              <a:defRPr sz="2300" b="1">
                <a:solidFill>
                  <a:srgbClr val="D5242B"/>
                </a:solidFill>
                <a:latin typeface="Aptos"/>
              </a:defRPr>
            </a:pPr>
            <a:r>
              <a:rPr sz="2800" dirty="0">
                <a:effectLst>
                  <a:outerShdw blurRad="38100" dist="38100" dir="2700000" algn="tl">
                    <a:srgbClr val="000000">
                      <a:alpha val="43137"/>
                    </a:srgbClr>
                  </a:outerShdw>
                </a:effectLst>
                <a:latin typeface="Arial Black" panose="020B0A04020102020204" pitchFamily="34" charset="0"/>
                <a:cs typeface="Arial" panose="020B0604020202020204" pitchFamily="34" charset="0"/>
              </a:rPr>
              <a:t>Agenda</a:t>
            </a:r>
          </a:p>
        </p:txBody>
      </p:sp>
      <p:sp>
        <p:nvSpPr>
          <p:cNvPr id="9" name="Rectangle 8"/>
          <p:cNvSpPr/>
          <p:nvPr/>
        </p:nvSpPr>
        <p:spPr>
          <a:xfrm>
            <a:off x="1714500" y="938381"/>
            <a:ext cx="10058400" cy="22860"/>
          </a:xfrm>
          <a:prstGeom prst="rect">
            <a:avLst/>
          </a:prstGeom>
          <a:solidFill>
            <a:srgbClr val="DADC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clean_content_bg15.png"/>
          <p:cNvPicPr>
            <a:picLocks noChangeAspect="1"/>
          </p:cNvPicPr>
          <p:nvPr/>
        </p:nvPicPr>
        <p:blipFill rotWithShape="1">
          <a:blip r:embed="rId3"/>
          <a:srcRect l="86524" t="76547"/>
          <a:stretch/>
        </p:blipFill>
        <p:spPr>
          <a:xfrm>
            <a:off x="10549054" y="4812122"/>
            <a:ext cx="1642946" cy="1474378"/>
          </a:xfrm>
          <a:prstGeom prst="rect">
            <a:avLst/>
          </a:prstGeom>
        </p:spPr>
      </p:pic>
      <p:sp>
        <p:nvSpPr>
          <p:cNvPr id="17" name="Rounded Rectangle 16"/>
          <p:cNvSpPr/>
          <p:nvPr/>
        </p:nvSpPr>
        <p:spPr>
          <a:xfrm>
            <a:off x="8111025" y="1417320"/>
            <a:ext cx="3501111" cy="4023918"/>
          </a:xfrm>
          <a:prstGeom prst="roundRect">
            <a:avLst/>
          </a:prstGeom>
          <a:solidFill>
            <a:srgbClr val="FFFFFF"/>
          </a:solidFill>
          <a:ln w="12700">
            <a:solidFill>
              <a:srgbClr val="DADCE0"/>
            </a:solidFill>
          </a:ln>
          <a:effectLst>
            <a:glow rad="63500">
              <a:schemeClr val="accent4">
                <a:satMod val="175000"/>
                <a:alpha val="40000"/>
              </a:schemeClr>
            </a:glow>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731520" y="1417320"/>
            <a:ext cx="3246120" cy="4001058"/>
          </a:xfrm>
          <a:prstGeom prst="roundRect">
            <a:avLst/>
          </a:prstGeom>
          <a:solidFill>
            <a:schemeClr val="bg1"/>
          </a:solidFill>
          <a:ln w="12700">
            <a:solidFill>
              <a:srgbClr val="DADCE0"/>
            </a:solidFill>
          </a:ln>
          <a:effectLst>
            <a:glow rad="63500">
              <a:schemeClr val="accent4">
                <a:satMod val="175000"/>
                <a:alpha val="40000"/>
              </a:schemeClr>
            </a:glow>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96112" y="1563624"/>
            <a:ext cx="3246118" cy="369332"/>
          </a:xfrm>
          <a:prstGeom prst="rect">
            <a:avLst/>
          </a:prstGeom>
          <a:noFill/>
        </p:spPr>
        <p:txBody>
          <a:bodyPr wrap="square" anchor="t">
            <a:spAutoFit/>
          </a:bodyPr>
          <a:lstStyle/>
          <a:p>
            <a:pPr algn="l">
              <a:defRPr sz="1350" b="1">
                <a:solidFill>
                  <a:srgbClr val="D5242B"/>
                </a:solidFill>
                <a:latin typeface="Aptos"/>
              </a:defRPr>
            </a:pPr>
            <a:r>
              <a:rPr sz="1800" u="sng" dirty="0">
                <a:latin typeface="Arial Black" panose="020B0A04020102020204" pitchFamily="34" charset="0"/>
              </a:rPr>
              <a:t>01  Project Foundation</a:t>
            </a:r>
          </a:p>
        </p:txBody>
      </p:sp>
      <p:sp>
        <p:nvSpPr>
          <p:cNvPr id="13" name="TextBox 12"/>
          <p:cNvSpPr txBox="1"/>
          <p:nvPr/>
        </p:nvSpPr>
        <p:spPr>
          <a:xfrm>
            <a:off x="896112" y="1996730"/>
            <a:ext cx="2916936" cy="1323439"/>
          </a:xfrm>
          <a:prstGeom prst="rect">
            <a:avLst/>
          </a:prstGeom>
          <a:noFill/>
        </p:spPr>
        <p:txBody>
          <a:bodyPr wrap="square" anchor="t">
            <a:spAutoFit/>
          </a:bodyPr>
          <a:lstStyle/>
          <a:p>
            <a:pPr marL="285750" indent="-285750" algn="l">
              <a:buFont typeface="Arial" panose="020B0604020202020204" pitchFamily="34" charset="0"/>
              <a:buChar char="•"/>
              <a:defRPr sz="1500" b="0">
                <a:solidFill>
                  <a:srgbClr val="262626"/>
                </a:solidFill>
                <a:latin typeface="Aptos"/>
              </a:defRPr>
            </a:pPr>
            <a:r>
              <a:rPr lang="en-US" sz="1600" dirty="0">
                <a:solidFill>
                  <a:schemeClr val="tx1"/>
                </a:solidFill>
                <a:latin typeface="+mj-lt"/>
                <a:cs typeface="Times New Roman" panose="02020603050405020304" pitchFamily="18" charset="0"/>
              </a:rPr>
              <a:t>Problem statement &amp; objective</a:t>
            </a:r>
          </a:p>
          <a:p>
            <a:pPr marL="285750" indent="-285750" algn="l">
              <a:buFont typeface="Arial" panose="020B0604020202020204" pitchFamily="34" charset="0"/>
              <a:buChar char="•"/>
              <a:defRPr sz="1500" b="0">
                <a:solidFill>
                  <a:srgbClr val="262626"/>
                </a:solidFill>
                <a:latin typeface="Aptos"/>
              </a:defRPr>
            </a:pPr>
            <a:r>
              <a:rPr lang="en-US" sz="1600" dirty="0">
                <a:solidFill>
                  <a:schemeClr val="tx1"/>
                </a:solidFill>
                <a:latin typeface="+mj-lt"/>
                <a:cs typeface="Times New Roman" panose="02020603050405020304" pitchFamily="18" charset="0"/>
              </a:rPr>
              <a:t>Why </a:t>
            </a:r>
            <a:r>
              <a:rPr lang="en-US" sz="1600" dirty="0" err="1">
                <a:solidFill>
                  <a:schemeClr val="tx1"/>
                </a:solidFill>
                <a:latin typeface="+mj-lt"/>
                <a:cs typeface="Times New Roman" panose="02020603050405020304" pitchFamily="18" charset="0"/>
              </a:rPr>
              <a:t>BikeWale</a:t>
            </a:r>
            <a:endParaRPr lang="en-US" sz="1600" dirty="0">
              <a:solidFill>
                <a:schemeClr val="tx1"/>
              </a:solidFill>
              <a:latin typeface="+mj-lt"/>
              <a:cs typeface="Times New Roman" panose="02020603050405020304" pitchFamily="18" charset="0"/>
            </a:endParaRPr>
          </a:p>
          <a:p>
            <a:pPr marL="285750" indent="-285750" algn="l">
              <a:buFont typeface="Arial" panose="020B0604020202020204" pitchFamily="34" charset="0"/>
              <a:buChar char="•"/>
              <a:defRPr sz="1500" b="0">
                <a:solidFill>
                  <a:srgbClr val="262626"/>
                </a:solidFill>
                <a:latin typeface="Aptos"/>
              </a:defRPr>
            </a:pPr>
            <a:r>
              <a:rPr lang="en-US" sz="1600" dirty="0">
                <a:solidFill>
                  <a:schemeClr val="tx1"/>
                </a:solidFill>
                <a:latin typeface="+mj-lt"/>
                <a:cs typeface="Times New Roman" panose="02020603050405020304" pitchFamily="18" charset="0"/>
              </a:rPr>
              <a:t>Dataset and feature meanings</a:t>
            </a:r>
          </a:p>
        </p:txBody>
      </p:sp>
      <p:sp>
        <p:nvSpPr>
          <p:cNvPr id="14" name="Rounded Rectangle 13"/>
          <p:cNvSpPr/>
          <p:nvPr/>
        </p:nvSpPr>
        <p:spPr>
          <a:xfrm>
            <a:off x="4206240" y="1417320"/>
            <a:ext cx="3636498" cy="4001058"/>
          </a:xfrm>
          <a:prstGeom prst="roundRect">
            <a:avLst/>
          </a:prstGeom>
          <a:solidFill>
            <a:srgbClr val="FFFFFF"/>
          </a:solidFill>
          <a:ln w="12700">
            <a:solidFill>
              <a:srgbClr val="DADCE0"/>
            </a:solidFill>
          </a:ln>
          <a:effectLst>
            <a:glow rad="63500">
              <a:schemeClr val="accent4">
                <a:satMod val="175000"/>
                <a:alpha val="40000"/>
              </a:schemeClr>
            </a:glow>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370831" y="1563624"/>
            <a:ext cx="3412824" cy="369332"/>
          </a:xfrm>
          <a:prstGeom prst="rect">
            <a:avLst/>
          </a:prstGeom>
          <a:noFill/>
        </p:spPr>
        <p:txBody>
          <a:bodyPr wrap="square" anchor="t">
            <a:spAutoFit/>
          </a:bodyPr>
          <a:lstStyle/>
          <a:p>
            <a:pPr algn="l">
              <a:defRPr sz="1350" b="1">
                <a:solidFill>
                  <a:srgbClr val="D5242B"/>
                </a:solidFill>
                <a:latin typeface="Aptos"/>
              </a:defRPr>
            </a:pPr>
            <a:r>
              <a:rPr sz="1800" u="sng" dirty="0">
                <a:latin typeface="Arial Black" panose="020B0A04020102020204" pitchFamily="34" charset="0"/>
              </a:rPr>
              <a:t>02  Exploratory Analysis</a:t>
            </a:r>
          </a:p>
        </p:txBody>
      </p:sp>
      <p:sp>
        <p:nvSpPr>
          <p:cNvPr id="16" name="TextBox 15"/>
          <p:cNvSpPr txBox="1"/>
          <p:nvPr/>
        </p:nvSpPr>
        <p:spPr>
          <a:xfrm>
            <a:off x="4370830" y="1938528"/>
            <a:ext cx="3348815" cy="1102866"/>
          </a:xfrm>
          <a:prstGeom prst="rect">
            <a:avLst/>
          </a:prstGeom>
          <a:noFill/>
        </p:spPr>
        <p:txBody>
          <a:bodyPr wrap="square" anchor="t">
            <a:spAutoFit/>
          </a:bodyPr>
          <a:lstStyle/>
          <a:p>
            <a:pPr>
              <a:spcAft>
                <a:spcPts val="700"/>
              </a:spcAft>
              <a:defRPr sz="1500">
                <a:solidFill>
                  <a:srgbClr val="243041"/>
                </a:solidFill>
                <a:latin typeface="Aptos"/>
              </a:defRPr>
            </a:pPr>
            <a:r>
              <a:rPr lang="en-US" sz="1800" dirty="0">
                <a:latin typeface="+mj-lt"/>
              </a:rPr>
              <a:t>•  Scraping workflow</a:t>
            </a:r>
          </a:p>
          <a:p>
            <a:pPr>
              <a:spcAft>
                <a:spcPts val="700"/>
              </a:spcAft>
              <a:defRPr sz="1500">
                <a:solidFill>
                  <a:srgbClr val="243041"/>
                </a:solidFill>
                <a:latin typeface="Aptos"/>
              </a:defRPr>
            </a:pPr>
            <a:r>
              <a:rPr lang="en-US" sz="1800" dirty="0">
                <a:latin typeface="+mj-lt"/>
              </a:rPr>
              <a:t>•  Cleaning and missing values</a:t>
            </a:r>
          </a:p>
          <a:p>
            <a:pPr>
              <a:spcAft>
                <a:spcPts val="700"/>
              </a:spcAft>
              <a:defRPr sz="1500">
                <a:solidFill>
                  <a:srgbClr val="243041"/>
                </a:solidFill>
                <a:latin typeface="Aptos"/>
              </a:defRPr>
            </a:pPr>
            <a:r>
              <a:rPr lang="en-US" sz="1800" dirty="0">
                <a:latin typeface="+mj-lt"/>
              </a:rPr>
              <a:t>•  Outlier detection</a:t>
            </a:r>
          </a:p>
        </p:txBody>
      </p:sp>
      <p:sp>
        <p:nvSpPr>
          <p:cNvPr id="18" name="TextBox 17"/>
          <p:cNvSpPr txBox="1"/>
          <p:nvPr/>
        </p:nvSpPr>
        <p:spPr>
          <a:xfrm>
            <a:off x="8275618" y="1569196"/>
            <a:ext cx="2916936" cy="369332"/>
          </a:xfrm>
          <a:prstGeom prst="rect">
            <a:avLst/>
          </a:prstGeom>
          <a:noFill/>
        </p:spPr>
        <p:txBody>
          <a:bodyPr wrap="square" anchor="t">
            <a:spAutoFit/>
          </a:bodyPr>
          <a:lstStyle/>
          <a:p>
            <a:pPr algn="l">
              <a:defRPr sz="1350" b="1">
                <a:solidFill>
                  <a:srgbClr val="D5242B"/>
                </a:solidFill>
                <a:latin typeface="Aptos"/>
              </a:defRPr>
            </a:pPr>
            <a:r>
              <a:rPr sz="1800" u="sng" dirty="0">
                <a:latin typeface="Arial Black" panose="020B0A04020102020204" pitchFamily="34" charset="0"/>
              </a:rPr>
              <a:t>03  Findings </a:t>
            </a:r>
          </a:p>
        </p:txBody>
      </p:sp>
      <p:sp>
        <p:nvSpPr>
          <p:cNvPr id="19" name="TextBox 18"/>
          <p:cNvSpPr txBox="1"/>
          <p:nvPr/>
        </p:nvSpPr>
        <p:spPr>
          <a:xfrm>
            <a:off x="8111026" y="1899622"/>
            <a:ext cx="3661874" cy="1561966"/>
          </a:xfrm>
          <a:prstGeom prst="rect">
            <a:avLst/>
          </a:prstGeom>
          <a:noFill/>
        </p:spPr>
        <p:txBody>
          <a:bodyPr wrap="square" anchor="t">
            <a:spAutoFit/>
          </a:bodyPr>
          <a:lstStyle/>
          <a:p>
            <a:pPr>
              <a:spcAft>
                <a:spcPts val="700"/>
              </a:spcAft>
              <a:defRPr sz="1500">
                <a:solidFill>
                  <a:srgbClr val="243041"/>
                </a:solidFill>
                <a:latin typeface="Aptos"/>
              </a:defRPr>
            </a:pPr>
            <a:r>
              <a:rPr lang="en-US" sz="1600" dirty="0">
                <a:latin typeface="+mj-lt"/>
              </a:rPr>
              <a:t>•  Univariate and bivariate EDA</a:t>
            </a:r>
          </a:p>
          <a:p>
            <a:pPr>
              <a:spcAft>
                <a:spcPts val="700"/>
              </a:spcAft>
              <a:defRPr sz="1500">
                <a:solidFill>
                  <a:srgbClr val="243041"/>
                </a:solidFill>
                <a:latin typeface="Aptos"/>
              </a:defRPr>
            </a:pPr>
            <a:r>
              <a:rPr lang="en-US" sz="1600" dirty="0">
                <a:latin typeface="+mj-lt"/>
              </a:rPr>
              <a:t>•  Correlation and pivot table</a:t>
            </a:r>
          </a:p>
          <a:p>
            <a:pPr>
              <a:spcAft>
                <a:spcPts val="700"/>
              </a:spcAft>
              <a:defRPr sz="1500">
                <a:solidFill>
                  <a:srgbClr val="243041"/>
                </a:solidFill>
                <a:latin typeface="Aptos"/>
              </a:defRPr>
            </a:pPr>
            <a:r>
              <a:rPr lang="en-US" sz="1600" dirty="0">
                <a:latin typeface="+mj-lt"/>
              </a:rPr>
              <a:t>•  Insights, limitations and conclusion</a:t>
            </a:r>
          </a:p>
          <a:p>
            <a:pPr algn="l">
              <a:defRPr sz="1500" b="0">
                <a:solidFill>
                  <a:srgbClr val="262626"/>
                </a:solidFill>
                <a:latin typeface="Aptos"/>
              </a:defRPr>
            </a:pPr>
            <a:br>
              <a:rPr dirty="0">
                <a:solidFill>
                  <a:schemeClr val="accent5"/>
                </a:solidFill>
                <a:latin typeface="+mj-lt"/>
              </a:rPr>
            </a:br>
            <a:endParaRPr dirty="0">
              <a:solidFill>
                <a:schemeClr val="accent5"/>
              </a:solidFill>
              <a:latin typeface="+mj-lt"/>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clean_content_bg15.png"/>
          <p:cNvPicPr>
            <a:picLocks noChangeAspect="1"/>
          </p:cNvPicPr>
          <p:nvPr/>
        </p:nvPicPr>
        <p:blipFill>
          <a:blip r:embed="rId3"/>
          <a:stretch>
            <a:fillRect/>
          </a:stretch>
        </p:blipFill>
        <p:spPr>
          <a:xfrm>
            <a:off x="0" y="0"/>
            <a:ext cx="12192000" cy="6295292"/>
          </a:xfrm>
          <a:prstGeom prst="rect">
            <a:avLst/>
          </a:prstGeom>
        </p:spPr>
      </p:pic>
      <p:sp>
        <p:nvSpPr>
          <p:cNvPr id="8" name="TextBox 7"/>
          <p:cNvSpPr txBox="1"/>
          <p:nvPr/>
        </p:nvSpPr>
        <p:spPr>
          <a:xfrm>
            <a:off x="1925514" y="365760"/>
            <a:ext cx="8635805" cy="584775"/>
          </a:xfrm>
          <a:prstGeom prst="rect">
            <a:avLst/>
          </a:prstGeom>
          <a:noFill/>
        </p:spPr>
        <p:txBody>
          <a:bodyPr wrap="square" anchor="t">
            <a:spAutoFit/>
          </a:bodyPr>
          <a:lstStyle/>
          <a:p>
            <a:pPr>
              <a:defRPr sz="2300" b="1">
                <a:solidFill>
                  <a:srgbClr val="D5242B"/>
                </a:solidFill>
                <a:latin typeface="Aptos"/>
              </a:defRPr>
            </a:pPr>
            <a:r>
              <a:rPr sz="3200" dirty="0">
                <a:effectLst>
                  <a:outerShdw blurRad="38100" dist="38100" dir="2700000" algn="tl">
                    <a:srgbClr val="000000">
                      <a:alpha val="43137"/>
                    </a:srgbClr>
                  </a:outerShdw>
                </a:effectLst>
                <a:latin typeface="Arial Black" panose="020B0A04020102020204" pitchFamily="34" charset="0"/>
              </a:rPr>
              <a:t>Introduction</a:t>
            </a:r>
            <a:endParaRPr sz="2800" dirty="0">
              <a:effectLst>
                <a:outerShdw blurRad="38100" dist="38100" dir="2700000" algn="tl">
                  <a:srgbClr val="000000">
                    <a:alpha val="43137"/>
                  </a:srgbClr>
                </a:outerShdw>
              </a:effectLst>
              <a:latin typeface="Arial Black" panose="020B0A04020102020204" pitchFamily="34" charset="0"/>
            </a:endParaRPr>
          </a:p>
        </p:txBody>
      </p:sp>
      <p:sp>
        <p:nvSpPr>
          <p:cNvPr id="9" name="Rectangle 8"/>
          <p:cNvSpPr/>
          <p:nvPr/>
        </p:nvSpPr>
        <p:spPr>
          <a:xfrm>
            <a:off x="1630681" y="950535"/>
            <a:ext cx="10058400" cy="22860"/>
          </a:xfrm>
          <a:prstGeom prst="rect">
            <a:avLst/>
          </a:prstGeom>
          <a:solidFill>
            <a:srgbClr val="DADC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809244" y="1284732"/>
            <a:ext cx="4800600" cy="4987700"/>
          </a:xfrm>
          <a:prstGeom prst="roundRect">
            <a:avLst/>
          </a:prstGeom>
          <a:solidFill>
            <a:srgbClr val="FFFFFF"/>
          </a:solidFill>
          <a:ln w="12700">
            <a:solidFill>
              <a:srgbClr val="DADCE0"/>
            </a:solidFill>
          </a:ln>
          <a:effectLst>
            <a:glow rad="63500">
              <a:schemeClr val="accent4">
                <a:satMod val="175000"/>
                <a:alpha val="40000"/>
              </a:schemeClr>
            </a:glow>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2" name="TextBox 11"/>
          <p:cNvSpPr txBox="1"/>
          <p:nvPr/>
        </p:nvSpPr>
        <p:spPr>
          <a:xfrm>
            <a:off x="1124712" y="1487641"/>
            <a:ext cx="4471416" cy="400110"/>
          </a:xfrm>
          <a:prstGeom prst="rect">
            <a:avLst/>
          </a:prstGeom>
          <a:noFill/>
        </p:spPr>
        <p:txBody>
          <a:bodyPr wrap="square" anchor="t">
            <a:spAutoFit/>
          </a:bodyPr>
          <a:lstStyle/>
          <a:p>
            <a:pPr algn="ctr">
              <a:defRPr sz="1350" b="1">
                <a:solidFill>
                  <a:srgbClr val="D5242B"/>
                </a:solidFill>
                <a:latin typeface="Aptos"/>
              </a:defRPr>
            </a:pPr>
            <a:r>
              <a:rPr lang="en-US" sz="2000" u="sng" dirty="0">
                <a:latin typeface="Arial Black" panose="020B0A04020102020204" pitchFamily="34" charset="0"/>
                <a:cs typeface="Arial" panose="020B0604020202020204" pitchFamily="34" charset="0"/>
              </a:rPr>
              <a:t>Problem Statement</a:t>
            </a:r>
          </a:p>
        </p:txBody>
      </p:sp>
      <p:sp>
        <p:nvSpPr>
          <p:cNvPr id="13" name="TextBox 12"/>
          <p:cNvSpPr txBox="1"/>
          <p:nvPr/>
        </p:nvSpPr>
        <p:spPr>
          <a:xfrm>
            <a:off x="973836" y="1948128"/>
            <a:ext cx="4471416" cy="2246769"/>
          </a:xfrm>
          <a:prstGeom prst="rect">
            <a:avLst/>
          </a:prstGeom>
          <a:noFill/>
        </p:spPr>
        <p:txBody>
          <a:bodyPr wrap="square" anchor="t">
            <a:spAutoFit/>
          </a:bodyPr>
          <a:lstStyle/>
          <a:p>
            <a:pPr algn="just"/>
            <a:r>
              <a:rPr lang="en-US" sz="2000" dirty="0"/>
              <a:t>Choosing the best bike in India can be difficult because different models offer different prices, mileage, engine capacities, power outputs, weights and user ratings. Comparing these features manually across multiple product pages is time-consuming.</a:t>
            </a:r>
          </a:p>
        </p:txBody>
      </p:sp>
      <p:sp>
        <p:nvSpPr>
          <p:cNvPr id="14" name="Rounded Rectangle 13"/>
          <p:cNvSpPr/>
          <p:nvPr/>
        </p:nvSpPr>
        <p:spPr>
          <a:xfrm>
            <a:off x="5989320" y="1284732"/>
            <a:ext cx="4800600" cy="4987700"/>
          </a:xfrm>
          <a:prstGeom prst="roundRect">
            <a:avLst/>
          </a:prstGeom>
          <a:solidFill>
            <a:srgbClr val="FFFFFF"/>
          </a:solidFill>
          <a:ln w="12700">
            <a:solidFill>
              <a:srgbClr val="DADCE0"/>
            </a:solidFill>
          </a:ln>
          <a:effectLst>
            <a:glow rad="63500">
              <a:schemeClr val="accent4">
                <a:satMod val="175000"/>
                <a:alpha val="40000"/>
              </a:schemeClr>
            </a:glow>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5" name="TextBox 14"/>
          <p:cNvSpPr txBox="1"/>
          <p:nvPr/>
        </p:nvSpPr>
        <p:spPr>
          <a:xfrm>
            <a:off x="6185916" y="1480105"/>
            <a:ext cx="4471416" cy="400110"/>
          </a:xfrm>
          <a:prstGeom prst="rect">
            <a:avLst/>
          </a:prstGeom>
          <a:noFill/>
        </p:spPr>
        <p:txBody>
          <a:bodyPr wrap="square" anchor="t">
            <a:spAutoFit/>
          </a:bodyPr>
          <a:lstStyle/>
          <a:p>
            <a:pPr algn="ctr">
              <a:defRPr sz="1350" b="1">
                <a:solidFill>
                  <a:srgbClr val="D5242B"/>
                </a:solidFill>
                <a:latin typeface="Aptos"/>
              </a:defRPr>
            </a:pPr>
            <a:r>
              <a:rPr sz="2000" u="sng" dirty="0">
                <a:latin typeface="Arial Black" panose="020B0A04020102020204" pitchFamily="34" charset="0"/>
                <a:cs typeface="Arial" panose="020B0604020202020204" pitchFamily="34" charset="0"/>
              </a:rPr>
              <a:t>Purpose of the Analysis</a:t>
            </a:r>
          </a:p>
        </p:txBody>
      </p:sp>
      <p:sp>
        <p:nvSpPr>
          <p:cNvPr id="16" name="TextBox 15"/>
          <p:cNvSpPr txBox="1"/>
          <p:nvPr/>
        </p:nvSpPr>
        <p:spPr>
          <a:xfrm>
            <a:off x="6089903" y="2115464"/>
            <a:ext cx="4471416" cy="3477875"/>
          </a:xfrm>
          <a:prstGeom prst="rect">
            <a:avLst/>
          </a:prstGeom>
          <a:noFill/>
        </p:spPr>
        <p:txBody>
          <a:bodyPr wrap="square" anchor="t">
            <a:spAutoFit/>
          </a:bodyPr>
          <a:lstStyle/>
          <a:p>
            <a:pPr marL="285750" indent="-285750" algn="just">
              <a:buFont typeface="Wingdings" panose="05000000000000000000" pitchFamily="2" charset="2"/>
              <a:buChar char="Ø"/>
              <a:defRPr sz="1400" b="0">
                <a:solidFill>
                  <a:srgbClr val="262626"/>
                </a:solidFill>
                <a:latin typeface="Aptos"/>
              </a:defRPr>
            </a:pPr>
            <a:r>
              <a:rPr lang="en-US" sz="2000" dirty="0">
                <a:solidFill>
                  <a:schemeClr val="tx1"/>
                </a:solidFill>
                <a:latin typeface="+mj-lt"/>
              </a:rPr>
              <a:t>Collect bike specifications from </a:t>
            </a:r>
            <a:r>
              <a:rPr lang="en-US" sz="2000" dirty="0" err="1">
                <a:solidFill>
                  <a:schemeClr val="tx1"/>
                </a:solidFill>
                <a:latin typeface="+mj-lt"/>
              </a:rPr>
              <a:t>BikeWale</a:t>
            </a:r>
            <a:r>
              <a:rPr lang="en-US" sz="2000" dirty="0">
                <a:solidFill>
                  <a:schemeClr val="tx1"/>
                </a:solidFill>
                <a:latin typeface="+mj-lt"/>
              </a:rPr>
              <a:t> using web scraping.</a:t>
            </a:r>
          </a:p>
          <a:p>
            <a:pPr marL="285750" indent="-285750" algn="just">
              <a:buFont typeface="Wingdings" panose="05000000000000000000" pitchFamily="2" charset="2"/>
              <a:buChar char="Ø"/>
              <a:defRPr sz="1400" b="0">
                <a:solidFill>
                  <a:srgbClr val="262626"/>
                </a:solidFill>
                <a:latin typeface="Aptos"/>
              </a:defRPr>
            </a:pPr>
            <a:r>
              <a:rPr lang="en-US" sz="2000" dirty="0" err="1">
                <a:solidFill>
                  <a:schemeClr val="tx1"/>
                </a:solidFill>
                <a:latin typeface="+mj-lt"/>
              </a:rPr>
              <a:t>Organise</a:t>
            </a:r>
            <a:r>
              <a:rPr lang="en-US" sz="2000" dirty="0">
                <a:solidFill>
                  <a:schemeClr val="tx1"/>
                </a:solidFill>
                <a:latin typeface="+mj-lt"/>
              </a:rPr>
              <a:t> the collected information into a structured dataset.</a:t>
            </a:r>
          </a:p>
          <a:p>
            <a:pPr marL="285750" indent="-285750" algn="just">
              <a:buFont typeface="Wingdings" panose="05000000000000000000" pitchFamily="2" charset="2"/>
              <a:buChar char="Ø"/>
              <a:defRPr sz="1400" b="0">
                <a:solidFill>
                  <a:srgbClr val="262626"/>
                </a:solidFill>
                <a:latin typeface="Aptos"/>
              </a:defRPr>
            </a:pPr>
            <a:r>
              <a:rPr lang="en-US" sz="2000" dirty="0">
                <a:solidFill>
                  <a:schemeClr val="tx1"/>
                </a:solidFill>
                <a:latin typeface="+mj-lt"/>
              </a:rPr>
              <a:t>Explore important bike features using EDA.</a:t>
            </a:r>
          </a:p>
          <a:p>
            <a:pPr marL="285750" indent="-285750" algn="just">
              <a:buFont typeface="Wingdings" panose="05000000000000000000" pitchFamily="2" charset="2"/>
              <a:buChar char="Ø"/>
              <a:defRPr sz="1400" b="0">
                <a:solidFill>
                  <a:srgbClr val="262626"/>
                </a:solidFill>
                <a:latin typeface="Aptos"/>
              </a:defRPr>
            </a:pPr>
            <a:r>
              <a:rPr lang="en-US" sz="2000" dirty="0">
                <a:solidFill>
                  <a:schemeClr val="tx1"/>
                </a:solidFill>
                <a:latin typeface="+mj-lt"/>
              </a:rPr>
              <a:t>Compare bikes based on affordability, mileage, performance and user ratings.</a:t>
            </a:r>
          </a:p>
          <a:p>
            <a:pPr marL="285750" indent="-285750" algn="just">
              <a:buFont typeface="Wingdings" panose="05000000000000000000" pitchFamily="2" charset="2"/>
              <a:buChar char="Ø"/>
              <a:defRPr sz="1400" b="0">
                <a:solidFill>
                  <a:srgbClr val="262626"/>
                </a:solidFill>
                <a:latin typeface="Aptos"/>
              </a:defRPr>
            </a:pPr>
            <a:r>
              <a:rPr lang="en-US" sz="2000" dirty="0">
                <a:solidFill>
                  <a:schemeClr val="tx1"/>
                </a:solidFill>
                <a:latin typeface="+mj-lt"/>
              </a:rPr>
              <a:t>Identify suitable options for different buyer requirements.</a:t>
            </a:r>
          </a:p>
        </p:txBody>
      </p:sp>
      <p:sp>
        <p:nvSpPr>
          <p:cNvPr id="17" name="TextBox 16">
            <a:extLst>
              <a:ext uri="{FF2B5EF4-FFF2-40B4-BE49-F238E27FC236}">
                <a16:creationId xmlns:a16="http://schemas.microsoft.com/office/drawing/2014/main" id="{C4CDDABA-318F-4F69-8E70-1D8CD441A8E2}"/>
              </a:ext>
            </a:extLst>
          </p:cNvPr>
          <p:cNvSpPr txBox="1"/>
          <p:nvPr/>
        </p:nvSpPr>
        <p:spPr>
          <a:xfrm>
            <a:off x="973836" y="4771743"/>
            <a:ext cx="4471416" cy="707886"/>
          </a:xfrm>
          <a:prstGeom prst="rect">
            <a:avLst/>
          </a:prstGeom>
          <a:noFill/>
        </p:spPr>
        <p:txBody>
          <a:bodyPr wrap="square" anchor="t">
            <a:spAutoFit/>
          </a:bodyPr>
          <a:lstStyle/>
          <a:p>
            <a:r>
              <a:rPr lang="en-US" sz="2000" dirty="0"/>
              <a:t>To </a:t>
            </a:r>
            <a:r>
              <a:rPr lang="en-US" sz="2000" dirty="0" err="1"/>
              <a:t>analyse</a:t>
            </a:r>
            <a:r>
              <a:rPr lang="en-US" sz="2000" dirty="0"/>
              <a:t> and identify the best bikes in India based on their features.</a:t>
            </a:r>
          </a:p>
        </p:txBody>
      </p:sp>
      <p:sp>
        <p:nvSpPr>
          <p:cNvPr id="20" name="TextBox 19">
            <a:extLst>
              <a:ext uri="{FF2B5EF4-FFF2-40B4-BE49-F238E27FC236}">
                <a16:creationId xmlns:a16="http://schemas.microsoft.com/office/drawing/2014/main" id="{28376874-E4DF-4649-BEFE-BD567311018F}"/>
              </a:ext>
            </a:extLst>
          </p:cNvPr>
          <p:cNvSpPr txBox="1"/>
          <p:nvPr/>
        </p:nvSpPr>
        <p:spPr>
          <a:xfrm>
            <a:off x="973836" y="4320936"/>
            <a:ext cx="4471416" cy="400110"/>
          </a:xfrm>
          <a:prstGeom prst="rect">
            <a:avLst/>
          </a:prstGeom>
          <a:noFill/>
        </p:spPr>
        <p:txBody>
          <a:bodyPr wrap="square" anchor="t">
            <a:spAutoFit/>
          </a:bodyPr>
          <a:lstStyle/>
          <a:p>
            <a:pPr algn="ctr"/>
            <a:r>
              <a:rPr lang="en-US" sz="2000" b="1" u="sng" dirty="0">
                <a:solidFill>
                  <a:srgbClr val="C00000"/>
                </a:solidFill>
                <a:latin typeface="Arial Black" panose="020B0A04020102020204" pitchFamily="34" charset="0"/>
              </a:rPr>
              <a:t>Project Objective</a:t>
            </a:r>
            <a:endParaRPr lang="en-US" sz="2000" u="sng" dirty="0">
              <a:solidFill>
                <a:srgbClr val="C00000"/>
              </a:solidFill>
              <a:latin typeface="Arial Black" panose="020B0A04020102020204"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clean_content_bg15.png"/>
          <p:cNvPicPr>
            <a:picLocks noChangeAspect="1"/>
          </p:cNvPicPr>
          <p:nvPr/>
        </p:nvPicPr>
        <p:blipFill>
          <a:blip r:embed="rId2"/>
          <a:stretch>
            <a:fillRect/>
          </a:stretch>
        </p:blipFill>
        <p:spPr>
          <a:xfrm>
            <a:off x="0" y="-128753"/>
            <a:ext cx="12192000" cy="6253352"/>
          </a:xfrm>
          <a:prstGeom prst="rect">
            <a:avLst/>
          </a:prstGeom>
        </p:spPr>
      </p:pic>
      <p:sp>
        <p:nvSpPr>
          <p:cNvPr id="8" name="TextBox 7"/>
          <p:cNvSpPr txBox="1"/>
          <p:nvPr/>
        </p:nvSpPr>
        <p:spPr>
          <a:xfrm>
            <a:off x="1845628" y="400717"/>
            <a:ext cx="9509760" cy="523220"/>
          </a:xfrm>
          <a:prstGeom prst="rect">
            <a:avLst/>
          </a:prstGeom>
          <a:noFill/>
        </p:spPr>
        <p:txBody>
          <a:bodyPr wrap="square" anchor="t">
            <a:spAutoFit/>
          </a:bodyPr>
          <a:lstStyle/>
          <a:p>
            <a:pPr algn="l">
              <a:defRPr sz="2300" b="1">
                <a:solidFill>
                  <a:srgbClr val="D5242B"/>
                </a:solidFill>
                <a:latin typeface="Aptos"/>
              </a:defRPr>
            </a:pPr>
            <a:r>
              <a:rPr sz="2800" dirty="0">
                <a:effectLst>
                  <a:outerShdw blurRad="38100" dist="38100" dir="2700000" algn="tl">
                    <a:srgbClr val="000000">
                      <a:alpha val="43137"/>
                    </a:srgbClr>
                  </a:outerShdw>
                </a:effectLst>
                <a:latin typeface="Arial Black" panose="020B0A04020102020204" pitchFamily="34" charset="0"/>
                <a:cs typeface="Arial" panose="020B0604020202020204" pitchFamily="34" charset="0"/>
              </a:rPr>
              <a:t>Why This Project</a:t>
            </a:r>
          </a:p>
        </p:txBody>
      </p:sp>
      <p:sp>
        <p:nvSpPr>
          <p:cNvPr id="9" name="Rectangle 8"/>
          <p:cNvSpPr/>
          <p:nvPr/>
        </p:nvSpPr>
        <p:spPr>
          <a:xfrm>
            <a:off x="1663505" y="916005"/>
            <a:ext cx="10058400" cy="22860"/>
          </a:xfrm>
          <a:prstGeom prst="rect">
            <a:avLst/>
          </a:prstGeom>
          <a:solidFill>
            <a:srgbClr val="DADC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868680" y="1133856"/>
            <a:ext cx="2148840" cy="1517904"/>
          </a:xfrm>
          <a:prstGeom prst="roundRect">
            <a:avLst/>
          </a:prstGeom>
          <a:solidFill>
            <a:srgbClr val="F5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60120" y="1581912"/>
            <a:ext cx="1965960" cy="430887"/>
          </a:xfrm>
          <a:prstGeom prst="rect">
            <a:avLst/>
          </a:prstGeom>
          <a:noFill/>
        </p:spPr>
        <p:txBody>
          <a:bodyPr wrap="square" anchor="t">
            <a:spAutoFit/>
          </a:bodyPr>
          <a:lstStyle/>
          <a:p>
            <a:pPr algn="ctr">
              <a:defRPr sz="2200" b="1">
                <a:solidFill>
                  <a:srgbClr val="D5242B"/>
                </a:solidFill>
                <a:latin typeface="Aptos"/>
              </a:defRPr>
            </a:pPr>
            <a:r>
              <a:rPr lang="en-IN" dirty="0"/>
              <a:t>65</a:t>
            </a:r>
          </a:p>
        </p:txBody>
      </p:sp>
      <p:sp>
        <p:nvSpPr>
          <p:cNvPr id="13" name="TextBox 12"/>
          <p:cNvSpPr txBox="1"/>
          <p:nvPr/>
        </p:nvSpPr>
        <p:spPr>
          <a:xfrm>
            <a:off x="978408" y="2023248"/>
            <a:ext cx="1929384" cy="584775"/>
          </a:xfrm>
          <a:prstGeom prst="rect">
            <a:avLst/>
          </a:prstGeom>
          <a:noFill/>
        </p:spPr>
        <p:txBody>
          <a:bodyPr wrap="square" anchor="t">
            <a:spAutoFit/>
          </a:bodyPr>
          <a:lstStyle/>
          <a:p>
            <a:pPr algn="ctr">
              <a:defRPr sz="1050" b="0">
                <a:solidFill>
                  <a:srgbClr val="5C5C5C"/>
                </a:solidFill>
                <a:latin typeface="Aptos"/>
              </a:defRPr>
            </a:pPr>
            <a:r>
              <a:rPr lang="en-IN" sz="1600" dirty="0">
                <a:solidFill>
                  <a:schemeClr val="accent4"/>
                </a:solidFill>
                <a:latin typeface="Arial Black" panose="020B0A04020102020204" pitchFamily="34" charset="0"/>
              </a:rPr>
              <a:t>Cleaned Records</a:t>
            </a:r>
            <a:endParaRPr sz="1600" dirty="0">
              <a:solidFill>
                <a:schemeClr val="accent4"/>
              </a:solidFill>
              <a:latin typeface="Arial Black" panose="020B0A04020102020204" pitchFamily="34" charset="0"/>
            </a:endParaRPr>
          </a:p>
        </p:txBody>
      </p:sp>
      <p:sp>
        <p:nvSpPr>
          <p:cNvPr id="14" name="Rounded Rectangle 13"/>
          <p:cNvSpPr/>
          <p:nvPr/>
        </p:nvSpPr>
        <p:spPr>
          <a:xfrm>
            <a:off x="3246120" y="1133856"/>
            <a:ext cx="2239224" cy="1517904"/>
          </a:xfrm>
          <a:prstGeom prst="roundRect">
            <a:avLst/>
          </a:prstGeom>
          <a:solidFill>
            <a:srgbClr val="F5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387500" y="1581912"/>
            <a:ext cx="1965960" cy="430887"/>
          </a:xfrm>
          <a:prstGeom prst="rect">
            <a:avLst/>
          </a:prstGeom>
          <a:noFill/>
        </p:spPr>
        <p:txBody>
          <a:bodyPr wrap="square" anchor="t">
            <a:spAutoFit/>
          </a:bodyPr>
          <a:lstStyle/>
          <a:p>
            <a:pPr algn="ctr">
              <a:defRPr sz="2200" b="1">
                <a:solidFill>
                  <a:srgbClr val="D5242B"/>
                </a:solidFill>
                <a:latin typeface="Aptos"/>
              </a:defRPr>
            </a:pPr>
            <a:r>
              <a:rPr lang="en-US" dirty="0"/>
              <a:t>2</a:t>
            </a:r>
            <a:r>
              <a:rPr lang="en-IN" dirty="0"/>
              <a:t>2</a:t>
            </a:r>
            <a:endParaRPr dirty="0"/>
          </a:p>
        </p:txBody>
      </p:sp>
      <p:sp>
        <p:nvSpPr>
          <p:cNvPr id="16" name="TextBox 15"/>
          <p:cNvSpPr txBox="1"/>
          <p:nvPr/>
        </p:nvSpPr>
        <p:spPr>
          <a:xfrm>
            <a:off x="3401040" y="2054734"/>
            <a:ext cx="1952420" cy="338554"/>
          </a:xfrm>
          <a:prstGeom prst="rect">
            <a:avLst/>
          </a:prstGeom>
          <a:noFill/>
        </p:spPr>
        <p:txBody>
          <a:bodyPr wrap="square" anchor="t">
            <a:spAutoFit/>
          </a:bodyPr>
          <a:lstStyle/>
          <a:p>
            <a:pPr algn="ctr">
              <a:defRPr sz="1050" b="0">
                <a:solidFill>
                  <a:srgbClr val="5C5C5C"/>
                </a:solidFill>
                <a:latin typeface="Aptos"/>
              </a:defRPr>
            </a:pPr>
            <a:r>
              <a:rPr lang="en-IN" sz="1600" dirty="0">
                <a:solidFill>
                  <a:schemeClr val="accent4"/>
                </a:solidFill>
                <a:latin typeface="Arial Black" panose="020B0A04020102020204" pitchFamily="34" charset="0"/>
              </a:rPr>
              <a:t>Brands</a:t>
            </a:r>
            <a:endParaRPr sz="1600" dirty="0">
              <a:solidFill>
                <a:schemeClr val="accent4"/>
              </a:solidFill>
              <a:latin typeface="Arial Black" panose="020B0A04020102020204" pitchFamily="34" charset="0"/>
            </a:endParaRPr>
          </a:p>
        </p:txBody>
      </p:sp>
      <p:sp>
        <p:nvSpPr>
          <p:cNvPr id="17" name="Rounded Rectangle 16"/>
          <p:cNvSpPr/>
          <p:nvPr/>
        </p:nvSpPr>
        <p:spPr>
          <a:xfrm>
            <a:off x="5798351" y="1143393"/>
            <a:ext cx="2239224" cy="1517904"/>
          </a:xfrm>
          <a:prstGeom prst="roundRect">
            <a:avLst/>
          </a:prstGeom>
          <a:solidFill>
            <a:srgbClr val="F5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5931165" y="1581912"/>
            <a:ext cx="1965960" cy="430887"/>
          </a:xfrm>
          <a:prstGeom prst="rect">
            <a:avLst/>
          </a:prstGeom>
          <a:noFill/>
        </p:spPr>
        <p:txBody>
          <a:bodyPr wrap="square" anchor="t">
            <a:spAutoFit/>
          </a:bodyPr>
          <a:lstStyle/>
          <a:p>
            <a:pPr algn="ctr">
              <a:defRPr sz="2200" b="1">
                <a:solidFill>
                  <a:srgbClr val="D5242B"/>
                </a:solidFill>
                <a:latin typeface="Aptos"/>
              </a:defRPr>
            </a:pPr>
            <a:r>
              <a:rPr lang="en-US" dirty="0"/>
              <a:t>11</a:t>
            </a:r>
            <a:endParaRPr dirty="0"/>
          </a:p>
        </p:txBody>
      </p:sp>
      <p:sp>
        <p:nvSpPr>
          <p:cNvPr id="19" name="TextBox 18"/>
          <p:cNvSpPr txBox="1"/>
          <p:nvPr/>
        </p:nvSpPr>
        <p:spPr>
          <a:xfrm>
            <a:off x="5860747" y="2052879"/>
            <a:ext cx="2114432" cy="338554"/>
          </a:xfrm>
          <a:prstGeom prst="rect">
            <a:avLst/>
          </a:prstGeom>
          <a:noFill/>
        </p:spPr>
        <p:txBody>
          <a:bodyPr wrap="square" anchor="t">
            <a:spAutoFit/>
          </a:bodyPr>
          <a:lstStyle/>
          <a:p>
            <a:pPr algn="ctr">
              <a:defRPr sz="1050" b="0">
                <a:solidFill>
                  <a:srgbClr val="5C5C5C"/>
                </a:solidFill>
                <a:latin typeface="Aptos"/>
              </a:defRPr>
            </a:pPr>
            <a:r>
              <a:rPr lang="en-IN" sz="1600" dirty="0">
                <a:solidFill>
                  <a:schemeClr val="accent4"/>
                </a:solidFill>
                <a:latin typeface="Arial Black" panose="020B0A04020102020204" pitchFamily="34" charset="0"/>
              </a:rPr>
              <a:t>Electric Records</a:t>
            </a:r>
            <a:endParaRPr dirty="0">
              <a:solidFill>
                <a:schemeClr val="accent4"/>
              </a:solidFill>
              <a:latin typeface="Arial Black" panose="020B0A04020102020204" pitchFamily="34" charset="0"/>
            </a:endParaRPr>
          </a:p>
        </p:txBody>
      </p:sp>
      <p:sp>
        <p:nvSpPr>
          <p:cNvPr id="20" name="Rounded Rectangle 19"/>
          <p:cNvSpPr/>
          <p:nvPr/>
        </p:nvSpPr>
        <p:spPr>
          <a:xfrm>
            <a:off x="8275320" y="1178741"/>
            <a:ext cx="2514600" cy="1517904"/>
          </a:xfrm>
          <a:prstGeom prst="roundRect">
            <a:avLst/>
          </a:prstGeom>
          <a:solidFill>
            <a:srgbClr val="F5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495831" y="1596463"/>
            <a:ext cx="1965960" cy="430887"/>
          </a:xfrm>
          <a:prstGeom prst="rect">
            <a:avLst/>
          </a:prstGeom>
          <a:noFill/>
        </p:spPr>
        <p:txBody>
          <a:bodyPr wrap="square" anchor="t">
            <a:spAutoFit/>
          </a:bodyPr>
          <a:lstStyle/>
          <a:p>
            <a:pPr algn="ctr">
              <a:defRPr sz="2200" b="1">
                <a:solidFill>
                  <a:srgbClr val="D5242B"/>
                </a:solidFill>
                <a:latin typeface="Aptos"/>
              </a:defRPr>
            </a:pPr>
            <a:r>
              <a:rPr lang="en-IN" dirty="0"/>
              <a:t>54</a:t>
            </a:r>
            <a:endParaRPr dirty="0"/>
          </a:p>
        </p:txBody>
      </p:sp>
      <p:sp>
        <p:nvSpPr>
          <p:cNvPr id="22" name="TextBox 21"/>
          <p:cNvSpPr txBox="1"/>
          <p:nvPr/>
        </p:nvSpPr>
        <p:spPr>
          <a:xfrm>
            <a:off x="8332821" y="2106518"/>
            <a:ext cx="2399597" cy="584775"/>
          </a:xfrm>
          <a:prstGeom prst="rect">
            <a:avLst/>
          </a:prstGeom>
          <a:noFill/>
        </p:spPr>
        <p:txBody>
          <a:bodyPr wrap="square" anchor="t">
            <a:spAutoFit/>
          </a:bodyPr>
          <a:lstStyle/>
          <a:p>
            <a:pPr algn="ctr">
              <a:defRPr sz="1050" b="0">
                <a:solidFill>
                  <a:srgbClr val="5C5C5C"/>
                </a:solidFill>
                <a:latin typeface="Aptos"/>
              </a:defRPr>
            </a:pPr>
            <a:r>
              <a:rPr lang="en-IN" sz="1600" dirty="0">
                <a:solidFill>
                  <a:schemeClr val="accent4"/>
                </a:solidFill>
                <a:latin typeface="Arial Black" panose="020B0A04020102020204" pitchFamily="34" charset="0"/>
              </a:rPr>
              <a:t>Petrol/Other Records</a:t>
            </a:r>
          </a:p>
        </p:txBody>
      </p:sp>
      <p:sp>
        <p:nvSpPr>
          <p:cNvPr id="23" name="Rounded Rectangle 22"/>
          <p:cNvSpPr/>
          <p:nvPr/>
        </p:nvSpPr>
        <p:spPr>
          <a:xfrm>
            <a:off x="316523" y="2971800"/>
            <a:ext cx="3450804" cy="2944368"/>
          </a:xfrm>
          <a:prstGeom prst="roundRect">
            <a:avLst/>
          </a:prstGeom>
          <a:solidFill>
            <a:srgbClr val="FFFFFF"/>
          </a:solidFill>
          <a:ln w="12700">
            <a:solidFill>
              <a:srgbClr val="DADCE0"/>
            </a:solidFill>
          </a:ln>
          <a:effectLst>
            <a:glow rad="63500">
              <a:schemeClr val="accent4">
                <a:satMod val="175000"/>
                <a:alpha val="40000"/>
              </a:schemeClr>
            </a:glow>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24" name="TextBox 23"/>
          <p:cNvSpPr txBox="1"/>
          <p:nvPr/>
        </p:nvSpPr>
        <p:spPr>
          <a:xfrm>
            <a:off x="1033271" y="3118104"/>
            <a:ext cx="2734056" cy="338554"/>
          </a:xfrm>
          <a:prstGeom prst="rect">
            <a:avLst/>
          </a:prstGeom>
          <a:noFill/>
        </p:spPr>
        <p:txBody>
          <a:bodyPr wrap="square" anchor="t">
            <a:spAutoFit/>
          </a:bodyPr>
          <a:lstStyle/>
          <a:p>
            <a:pPr>
              <a:defRPr sz="1350" b="1">
                <a:solidFill>
                  <a:srgbClr val="D5242B"/>
                </a:solidFill>
                <a:latin typeface="Aptos"/>
              </a:defRPr>
            </a:pPr>
            <a:r>
              <a:rPr sz="1600" u="sng" dirty="0">
                <a:latin typeface="Arial Black" panose="020B0A04020102020204" pitchFamily="34" charset="0"/>
              </a:rPr>
              <a:t>Why this dataset</a:t>
            </a:r>
          </a:p>
        </p:txBody>
      </p:sp>
      <p:sp>
        <p:nvSpPr>
          <p:cNvPr id="25" name="TextBox 24"/>
          <p:cNvSpPr txBox="1"/>
          <p:nvPr/>
        </p:nvSpPr>
        <p:spPr>
          <a:xfrm>
            <a:off x="448408" y="3493008"/>
            <a:ext cx="3224665" cy="2308324"/>
          </a:xfrm>
          <a:prstGeom prst="rect">
            <a:avLst/>
          </a:prstGeom>
          <a:noFill/>
        </p:spPr>
        <p:txBody>
          <a:bodyPr wrap="square" anchor="t">
            <a:spAutoFit/>
          </a:bodyPr>
          <a:lstStyle/>
          <a:p>
            <a:pPr algn="just">
              <a:defRPr sz="1400" b="0">
                <a:solidFill>
                  <a:srgbClr val="262626"/>
                </a:solidFill>
                <a:latin typeface="Aptos"/>
              </a:defRPr>
            </a:pPr>
            <a:r>
              <a:rPr lang="en-US" sz="1800" dirty="0">
                <a:solidFill>
                  <a:schemeClr val="tx1"/>
                </a:solidFill>
                <a:latin typeface="Arial" panose="020B0604020202020204" pitchFamily="34" charset="0"/>
                <a:cs typeface="Arial" panose="020B0604020202020204" pitchFamily="34" charset="0"/>
              </a:rPr>
              <a:t>The dataset combines market features such as price and user ratings with technical specifications such as engine capacity, power, mileage and weight. These features help compare bikes based on different buyer requirements.</a:t>
            </a:r>
            <a:endParaRPr sz="1800" dirty="0">
              <a:solidFill>
                <a:schemeClr val="tx1"/>
              </a:solidFill>
              <a:latin typeface="Arial" panose="020B0604020202020204" pitchFamily="34" charset="0"/>
              <a:cs typeface="Arial" panose="020B0604020202020204" pitchFamily="34" charset="0"/>
            </a:endParaRPr>
          </a:p>
        </p:txBody>
      </p:sp>
      <p:sp>
        <p:nvSpPr>
          <p:cNvPr id="26" name="Rounded Rectangle 25"/>
          <p:cNvSpPr/>
          <p:nvPr/>
        </p:nvSpPr>
        <p:spPr>
          <a:xfrm>
            <a:off x="3924358" y="2971800"/>
            <a:ext cx="3216226" cy="2944368"/>
          </a:xfrm>
          <a:prstGeom prst="roundRect">
            <a:avLst/>
          </a:prstGeom>
          <a:solidFill>
            <a:srgbClr val="FFFFFF"/>
          </a:solidFill>
          <a:ln w="12700">
            <a:solidFill>
              <a:srgbClr val="DADCE0"/>
            </a:solidFill>
          </a:ln>
          <a:effectLst>
            <a:glow rad="63500">
              <a:schemeClr val="accent4">
                <a:satMod val="175000"/>
                <a:alpha val="40000"/>
              </a:schemeClr>
            </a:glow>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just"/>
            <a:endParaRPr dirty="0"/>
          </a:p>
        </p:txBody>
      </p:sp>
      <p:sp>
        <p:nvSpPr>
          <p:cNvPr id="27" name="TextBox 26"/>
          <p:cNvSpPr txBox="1"/>
          <p:nvPr/>
        </p:nvSpPr>
        <p:spPr>
          <a:xfrm>
            <a:off x="4165443" y="3131642"/>
            <a:ext cx="2734056" cy="338554"/>
          </a:xfrm>
          <a:prstGeom prst="rect">
            <a:avLst/>
          </a:prstGeom>
          <a:noFill/>
        </p:spPr>
        <p:txBody>
          <a:bodyPr wrap="square" anchor="t">
            <a:spAutoFit/>
          </a:bodyPr>
          <a:lstStyle/>
          <a:p>
            <a:pPr algn="ctr">
              <a:defRPr sz="1350" b="1">
                <a:solidFill>
                  <a:srgbClr val="D5242B"/>
                </a:solidFill>
                <a:latin typeface="Aptos"/>
              </a:defRPr>
            </a:pPr>
            <a:r>
              <a:rPr sz="1600" u="sng" dirty="0">
                <a:latin typeface="Arial Black" panose="020B0A04020102020204" pitchFamily="34" charset="0"/>
              </a:rPr>
              <a:t>Why this source</a:t>
            </a:r>
          </a:p>
        </p:txBody>
      </p:sp>
      <p:sp>
        <p:nvSpPr>
          <p:cNvPr id="28" name="TextBox 27"/>
          <p:cNvSpPr txBox="1"/>
          <p:nvPr/>
        </p:nvSpPr>
        <p:spPr>
          <a:xfrm>
            <a:off x="3892296" y="3576839"/>
            <a:ext cx="3166872" cy="1569660"/>
          </a:xfrm>
          <a:prstGeom prst="rect">
            <a:avLst/>
          </a:prstGeom>
          <a:noFill/>
        </p:spPr>
        <p:txBody>
          <a:bodyPr wrap="square" anchor="t">
            <a:spAutoFit/>
          </a:bodyPr>
          <a:lstStyle/>
          <a:p>
            <a:pPr algn="just">
              <a:defRPr sz="1400" b="0">
                <a:solidFill>
                  <a:srgbClr val="262626"/>
                </a:solidFill>
                <a:latin typeface="Aptos"/>
              </a:defRPr>
            </a:pPr>
            <a:r>
              <a:rPr lang="en-US" sz="1600" dirty="0" err="1">
                <a:solidFill>
                  <a:schemeClr val="tx1"/>
                </a:solidFill>
                <a:latin typeface="Arial" panose="020B0604020202020204" pitchFamily="34" charset="0"/>
                <a:cs typeface="Arial" panose="020B0604020202020204" pitchFamily="34" charset="0"/>
              </a:rPr>
              <a:t>BikeWale</a:t>
            </a:r>
            <a:r>
              <a:rPr lang="en-US" sz="1600" dirty="0">
                <a:solidFill>
                  <a:schemeClr val="tx1"/>
                </a:solidFill>
                <a:latin typeface="Arial" panose="020B0604020202020204" pitchFamily="34" charset="0"/>
                <a:cs typeface="Arial" panose="020B0604020202020204" pitchFamily="34" charset="0"/>
              </a:rPr>
              <a:t> provides individual bike product pages containing useful specifications. It offers a practical source for collecting and </a:t>
            </a:r>
            <a:r>
              <a:rPr lang="en-US" sz="1600" dirty="0" err="1">
                <a:solidFill>
                  <a:schemeClr val="tx1"/>
                </a:solidFill>
                <a:latin typeface="Arial" panose="020B0604020202020204" pitchFamily="34" charset="0"/>
                <a:cs typeface="Arial" panose="020B0604020202020204" pitchFamily="34" charset="0"/>
              </a:rPr>
              <a:t>analysing</a:t>
            </a:r>
            <a:r>
              <a:rPr lang="en-US" sz="1600" dirty="0">
                <a:solidFill>
                  <a:schemeClr val="tx1"/>
                </a:solidFill>
                <a:latin typeface="Arial" panose="020B0604020202020204" pitchFamily="34" charset="0"/>
                <a:cs typeface="Arial" panose="020B0604020202020204" pitchFamily="34" charset="0"/>
              </a:rPr>
              <a:t> comparable bike information using web scraping.</a:t>
            </a:r>
            <a:endParaRPr sz="1600" dirty="0">
              <a:solidFill>
                <a:schemeClr val="tx1"/>
              </a:solidFill>
              <a:latin typeface="Arial" panose="020B0604020202020204" pitchFamily="34" charset="0"/>
              <a:cs typeface="Arial" panose="020B0604020202020204" pitchFamily="34" charset="0"/>
            </a:endParaRPr>
          </a:p>
        </p:txBody>
      </p:sp>
      <p:sp>
        <p:nvSpPr>
          <p:cNvPr id="29" name="Rounded Rectangle 28"/>
          <p:cNvSpPr/>
          <p:nvPr/>
        </p:nvSpPr>
        <p:spPr>
          <a:xfrm>
            <a:off x="7297615" y="2971800"/>
            <a:ext cx="4057773" cy="2944368"/>
          </a:xfrm>
          <a:prstGeom prst="roundRect">
            <a:avLst/>
          </a:prstGeom>
          <a:solidFill>
            <a:srgbClr val="FFFFFF"/>
          </a:solidFill>
          <a:ln w="12700">
            <a:solidFill>
              <a:srgbClr val="DADCE0"/>
            </a:solidFill>
          </a:ln>
          <a:effectLst>
            <a:glow rad="63500">
              <a:schemeClr val="accent4">
                <a:satMod val="175000"/>
                <a:alpha val="40000"/>
              </a:schemeClr>
            </a:glow>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7367954" y="3118105"/>
            <a:ext cx="4118491" cy="338554"/>
          </a:xfrm>
          <a:prstGeom prst="rect">
            <a:avLst/>
          </a:prstGeom>
          <a:noFill/>
        </p:spPr>
        <p:txBody>
          <a:bodyPr wrap="square" anchor="t">
            <a:spAutoFit/>
          </a:bodyPr>
          <a:lstStyle/>
          <a:p>
            <a:pPr algn="ctr">
              <a:defRPr sz="1350" b="1">
                <a:solidFill>
                  <a:srgbClr val="D5242B"/>
                </a:solidFill>
                <a:latin typeface="Aptos"/>
              </a:defRPr>
            </a:pPr>
            <a:r>
              <a:rPr lang="en-IN" sz="1600" u="sng" dirty="0">
                <a:latin typeface="Arial Black" panose="020B0A04020102020204" pitchFamily="34" charset="0"/>
              </a:rPr>
              <a:t>Project Objective</a:t>
            </a:r>
            <a:endParaRPr sz="1600" u="sng" dirty="0">
              <a:latin typeface="Arial Black" panose="020B0A04020102020204" pitchFamily="34" charset="0"/>
            </a:endParaRPr>
          </a:p>
        </p:txBody>
      </p:sp>
      <p:sp>
        <p:nvSpPr>
          <p:cNvPr id="31" name="TextBox 30"/>
          <p:cNvSpPr txBox="1"/>
          <p:nvPr/>
        </p:nvSpPr>
        <p:spPr>
          <a:xfrm>
            <a:off x="7427769" y="3617174"/>
            <a:ext cx="3808799" cy="1323439"/>
          </a:xfrm>
          <a:prstGeom prst="rect">
            <a:avLst/>
          </a:prstGeom>
          <a:noFill/>
        </p:spPr>
        <p:txBody>
          <a:bodyPr wrap="square" anchor="t">
            <a:spAutoFit/>
          </a:bodyPr>
          <a:lstStyle/>
          <a:p>
            <a:pPr algn="just">
              <a:defRPr sz="1400" b="0">
                <a:solidFill>
                  <a:srgbClr val="262626"/>
                </a:solidFill>
                <a:latin typeface="Aptos"/>
              </a:defRPr>
            </a:pPr>
            <a:r>
              <a:rPr lang="en-US" sz="1600" dirty="0">
                <a:solidFill>
                  <a:schemeClr val="tx1"/>
                </a:solidFill>
                <a:latin typeface="Arial" panose="020B0604020202020204" pitchFamily="34" charset="0"/>
                <a:cs typeface="Arial" panose="020B0604020202020204" pitchFamily="34" charset="0"/>
              </a:rPr>
              <a:t>To </a:t>
            </a:r>
            <a:r>
              <a:rPr lang="en-US" sz="1600" dirty="0" err="1">
                <a:solidFill>
                  <a:schemeClr val="tx1"/>
                </a:solidFill>
                <a:latin typeface="Arial" panose="020B0604020202020204" pitchFamily="34" charset="0"/>
                <a:cs typeface="Arial" panose="020B0604020202020204" pitchFamily="34" charset="0"/>
              </a:rPr>
              <a:t>analyse</a:t>
            </a:r>
            <a:r>
              <a:rPr lang="en-US" sz="1600" dirty="0">
                <a:solidFill>
                  <a:schemeClr val="tx1"/>
                </a:solidFill>
                <a:latin typeface="Arial" panose="020B0604020202020204" pitchFamily="34" charset="0"/>
                <a:cs typeface="Arial" panose="020B0604020202020204" pitchFamily="34" charset="0"/>
              </a:rPr>
              <a:t> and identify the best bikes in India based on their features by comparing affordability, mileage, engine capacity, power, weight and user ratings.</a:t>
            </a:r>
            <a:endParaRPr sz="1600" dirty="0">
              <a:solidFill>
                <a:schemeClr val="tx1"/>
              </a:solidFill>
              <a:latin typeface="Arial" panose="020B0604020202020204" pitchFamily="34" charset="0"/>
              <a:cs typeface="Arial" panose="020B0604020202020204" pitchFamily="3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clean_content_bg15.png"/>
          <p:cNvPicPr>
            <a:picLocks noChangeAspect="1"/>
          </p:cNvPicPr>
          <p:nvPr/>
        </p:nvPicPr>
        <p:blipFill>
          <a:blip r:embed="rId3"/>
          <a:stretch>
            <a:fillRect/>
          </a:stretch>
        </p:blipFill>
        <p:spPr>
          <a:xfrm>
            <a:off x="0" y="-96643"/>
            <a:ext cx="12192000" cy="6268915"/>
          </a:xfrm>
          <a:prstGeom prst="rect">
            <a:avLst/>
          </a:prstGeom>
        </p:spPr>
      </p:pic>
      <p:sp>
        <p:nvSpPr>
          <p:cNvPr id="8" name="TextBox 7"/>
          <p:cNvSpPr txBox="1"/>
          <p:nvPr/>
        </p:nvSpPr>
        <p:spPr>
          <a:xfrm>
            <a:off x="1728569" y="338328"/>
            <a:ext cx="9509760" cy="523220"/>
          </a:xfrm>
          <a:prstGeom prst="rect">
            <a:avLst/>
          </a:prstGeom>
          <a:noFill/>
        </p:spPr>
        <p:txBody>
          <a:bodyPr wrap="square" anchor="t">
            <a:spAutoFit/>
          </a:bodyPr>
          <a:lstStyle/>
          <a:p>
            <a:pPr algn="l">
              <a:defRPr sz="2300" b="1">
                <a:solidFill>
                  <a:srgbClr val="D5242B"/>
                </a:solidFill>
                <a:latin typeface="Aptos"/>
              </a:defRPr>
            </a:pPr>
            <a:r>
              <a:rPr sz="2800" dirty="0">
                <a:effectLst>
                  <a:outerShdw blurRad="38100" dist="38100" dir="2700000" algn="tl">
                    <a:srgbClr val="000000">
                      <a:alpha val="43137"/>
                    </a:srgbClr>
                  </a:outerShdw>
                </a:effectLst>
                <a:latin typeface="Arial Black" panose="020B0A04020102020204" pitchFamily="34" charset="0"/>
              </a:rPr>
              <a:t>Dataset Information</a:t>
            </a:r>
          </a:p>
        </p:txBody>
      </p:sp>
      <p:sp>
        <p:nvSpPr>
          <p:cNvPr id="9" name="Rectangle 8"/>
          <p:cNvSpPr/>
          <p:nvPr/>
        </p:nvSpPr>
        <p:spPr>
          <a:xfrm>
            <a:off x="1728569" y="898484"/>
            <a:ext cx="10058400" cy="22860"/>
          </a:xfrm>
          <a:prstGeom prst="rect">
            <a:avLst/>
          </a:prstGeom>
          <a:solidFill>
            <a:srgbClr val="DADC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801858" y="1362446"/>
            <a:ext cx="2802988" cy="1575566"/>
          </a:xfrm>
          <a:prstGeom prst="roundRect">
            <a:avLst/>
          </a:prstGeom>
          <a:solidFill>
            <a:srgbClr val="FFFFFF"/>
          </a:solidFill>
          <a:ln w="12700">
            <a:solidFill>
              <a:srgbClr val="DADCE0"/>
            </a:solidFill>
          </a:ln>
          <a:effectLst>
            <a:glow rad="63500">
              <a:schemeClr val="accent4">
                <a:satMod val="175000"/>
                <a:alpha val="40000"/>
              </a:schemeClr>
            </a:glow>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96112" y="1472184"/>
            <a:ext cx="2916936" cy="369332"/>
          </a:xfrm>
          <a:prstGeom prst="rect">
            <a:avLst/>
          </a:prstGeom>
          <a:noFill/>
        </p:spPr>
        <p:txBody>
          <a:bodyPr wrap="square" anchor="t">
            <a:spAutoFit/>
          </a:bodyPr>
          <a:lstStyle/>
          <a:p>
            <a:pPr algn="l">
              <a:defRPr sz="1350" b="1">
                <a:solidFill>
                  <a:srgbClr val="D5242B"/>
                </a:solidFill>
                <a:latin typeface="Aptos"/>
              </a:defRPr>
            </a:pPr>
            <a:r>
              <a:rPr sz="1800" u="sng" dirty="0">
                <a:latin typeface="Arial Black" panose="020B0A04020102020204" pitchFamily="34" charset="0"/>
              </a:rPr>
              <a:t>Source</a:t>
            </a:r>
          </a:p>
        </p:txBody>
      </p:sp>
      <p:sp>
        <p:nvSpPr>
          <p:cNvPr id="13" name="TextBox 12"/>
          <p:cNvSpPr txBox="1"/>
          <p:nvPr/>
        </p:nvSpPr>
        <p:spPr>
          <a:xfrm>
            <a:off x="896112" y="1847088"/>
            <a:ext cx="2916936" cy="830997"/>
          </a:xfrm>
          <a:prstGeom prst="rect">
            <a:avLst/>
          </a:prstGeom>
          <a:noFill/>
        </p:spPr>
        <p:txBody>
          <a:bodyPr wrap="square" anchor="t">
            <a:spAutoFit/>
          </a:bodyPr>
          <a:lstStyle/>
          <a:p>
            <a:r>
              <a:rPr lang="en-US" sz="1600" b="1" dirty="0"/>
              <a:t>Data Source:</a:t>
            </a:r>
            <a:r>
              <a:rPr lang="en-US" sz="1600" dirty="0"/>
              <a:t> </a:t>
            </a:r>
            <a:r>
              <a:rPr lang="en-US" sz="1600" dirty="0" err="1"/>
              <a:t>BikeWale</a:t>
            </a:r>
            <a:br>
              <a:rPr lang="en-US" sz="1600" dirty="0"/>
            </a:br>
            <a:r>
              <a:rPr lang="en-US" sz="1600" b="1" dirty="0"/>
              <a:t>Website:</a:t>
            </a:r>
            <a:r>
              <a:rPr lang="en-US" sz="1600" dirty="0"/>
              <a:t> </a:t>
            </a:r>
            <a:r>
              <a:rPr lang="en-US" sz="1600" dirty="0">
                <a:hlinkClick r:id="rId4"/>
              </a:rPr>
              <a:t>https://www.bikewale.com/</a:t>
            </a:r>
            <a:endParaRPr lang="en-US" sz="1600" dirty="0"/>
          </a:p>
        </p:txBody>
      </p:sp>
      <p:sp>
        <p:nvSpPr>
          <p:cNvPr id="14" name="Rounded Rectangle 13"/>
          <p:cNvSpPr/>
          <p:nvPr/>
        </p:nvSpPr>
        <p:spPr>
          <a:xfrm>
            <a:off x="3734269" y="1325880"/>
            <a:ext cx="3753260" cy="1598426"/>
          </a:xfrm>
          <a:prstGeom prst="roundRect">
            <a:avLst/>
          </a:prstGeom>
          <a:solidFill>
            <a:srgbClr val="FFFFFF"/>
          </a:solidFill>
          <a:ln w="12700">
            <a:solidFill>
              <a:srgbClr val="DADCE0"/>
            </a:solidFill>
          </a:ln>
          <a:effectLst>
            <a:glow rad="63500">
              <a:schemeClr val="accent4">
                <a:satMod val="175000"/>
                <a:alpha val="40000"/>
              </a:schemeClr>
            </a:glow>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977640" y="1516789"/>
            <a:ext cx="3310127" cy="369332"/>
          </a:xfrm>
          <a:prstGeom prst="rect">
            <a:avLst/>
          </a:prstGeom>
          <a:noFill/>
        </p:spPr>
        <p:txBody>
          <a:bodyPr wrap="square" anchor="t">
            <a:spAutoFit/>
          </a:bodyPr>
          <a:lstStyle/>
          <a:p>
            <a:pPr>
              <a:defRPr sz="1350" b="1">
                <a:solidFill>
                  <a:srgbClr val="D5242B"/>
                </a:solidFill>
                <a:latin typeface="Aptos"/>
              </a:defRPr>
            </a:pPr>
            <a:r>
              <a:rPr sz="1800" u="sng" dirty="0">
                <a:latin typeface="Arial Black" panose="020B0A04020102020204" pitchFamily="34" charset="0"/>
              </a:rPr>
              <a:t>Data Collection</a:t>
            </a:r>
            <a:r>
              <a:rPr lang="en-IN" sz="1800" u="sng" dirty="0">
                <a:latin typeface="Arial Black" panose="020B0A04020102020204" pitchFamily="34" charset="0"/>
              </a:rPr>
              <a:t> Tools</a:t>
            </a:r>
            <a:endParaRPr sz="1800" u="sng" dirty="0">
              <a:latin typeface="Arial Black" panose="020B0A04020102020204" pitchFamily="34" charset="0"/>
            </a:endParaRPr>
          </a:p>
        </p:txBody>
      </p:sp>
      <p:sp>
        <p:nvSpPr>
          <p:cNvPr id="16" name="TextBox 15"/>
          <p:cNvSpPr txBox="1"/>
          <p:nvPr/>
        </p:nvSpPr>
        <p:spPr>
          <a:xfrm>
            <a:off x="3838369" y="1807882"/>
            <a:ext cx="3778583" cy="938719"/>
          </a:xfrm>
          <a:prstGeom prst="rect">
            <a:avLst/>
          </a:prstGeom>
          <a:noFill/>
        </p:spPr>
        <p:txBody>
          <a:bodyPr wrap="square" anchor="t">
            <a:spAutoFit/>
          </a:bodyPr>
          <a:lstStyle/>
          <a:p>
            <a:pPr marL="285750" indent="-285750">
              <a:buFont typeface="Wingdings" panose="05000000000000000000" pitchFamily="2" charset="2"/>
              <a:buChar char="Ø"/>
              <a:defRPr sz="1350" b="0">
                <a:solidFill>
                  <a:srgbClr val="262626"/>
                </a:solidFill>
                <a:latin typeface="Aptos"/>
              </a:defRPr>
            </a:pPr>
            <a:r>
              <a:rPr lang="en-US" sz="1100" b="1" dirty="0">
                <a:solidFill>
                  <a:schemeClr val="accent2"/>
                </a:solidFill>
                <a:latin typeface="+mn-lt"/>
              </a:rPr>
              <a:t>Requests – </a:t>
            </a:r>
            <a:r>
              <a:rPr lang="en-US" sz="1100" b="1" dirty="0">
                <a:solidFill>
                  <a:schemeClr val="tx1"/>
                </a:solidFill>
                <a:latin typeface="+mn-lt"/>
              </a:rPr>
              <a:t>to retrieve web-page HTML.</a:t>
            </a:r>
          </a:p>
          <a:p>
            <a:pPr marL="285750" indent="-285750">
              <a:buFont typeface="Wingdings" panose="05000000000000000000" pitchFamily="2" charset="2"/>
              <a:buChar char="Ø"/>
              <a:defRPr sz="1350" b="0">
                <a:solidFill>
                  <a:srgbClr val="262626"/>
                </a:solidFill>
                <a:latin typeface="Aptos"/>
              </a:defRPr>
            </a:pPr>
            <a:r>
              <a:rPr lang="en-US" sz="1100" b="1" dirty="0" err="1">
                <a:solidFill>
                  <a:schemeClr val="accent2"/>
                </a:solidFill>
                <a:latin typeface="+mn-lt"/>
              </a:rPr>
              <a:t>BeautifulSoup</a:t>
            </a:r>
            <a:r>
              <a:rPr lang="en-US" sz="1100" b="1" dirty="0">
                <a:solidFill>
                  <a:schemeClr val="accent2"/>
                </a:solidFill>
                <a:latin typeface="+mn-lt"/>
              </a:rPr>
              <a:t> – </a:t>
            </a:r>
            <a:r>
              <a:rPr lang="en-US" sz="1100" b="1" dirty="0">
                <a:solidFill>
                  <a:schemeClr val="tx1"/>
                </a:solidFill>
                <a:latin typeface="+mn-lt"/>
              </a:rPr>
              <a:t>to parse HTML content.</a:t>
            </a:r>
          </a:p>
          <a:p>
            <a:pPr marL="285750" indent="-285750">
              <a:buFont typeface="Wingdings" panose="05000000000000000000" pitchFamily="2" charset="2"/>
              <a:buChar char="Ø"/>
              <a:defRPr sz="1350" b="0">
                <a:solidFill>
                  <a:srgbClr val="262626"/>
                </a:solidFill>
                <a:latin typeface="Aptos"/>
              </a:defRPr>
            </a:pPr>
            <a:r>
              <a:rPr lang="en-US" sz="1100" b="1" dirty="0">
                <a:solidFill>
                  <a:schemeClr val="accent2"/>
                </a:solidFill>
                <a:latin typeface="+mn-lt"/>
              </a:rPr>
              <a:t>Regular Expressions – </a:t>
            </a:r>
            <a:r>
              <a:rPr lang="en-US" sz="1100" b="1" dirty="0">
                <a:solidFill>
                  <a:schemeClr val="tx1"/>
                </a:solidFill>
                <a:latin typeface="+mn-lt"/>
              </a:rPr>
              <a:t>to extract relevant values from text.</a:t>
            </a:r>
          </a:p>
          <a:p>
            <a:pPr marL="285750" indent="-285750">
              <a:buFont typeface="Wingdings" panose="05000000000000000000" pitchFamily="2" charset="2"/>
              <a:buChar char="Ø"/>
              <a:defRPr sz="1350" b="0">
                <a:solidFill>
                  <a:srgbClr val="262626"/>
                </a:solidFill>
                <a:latin typeface="Aptos"/>
              </a:defRPr>
            </a:pPr>
            <a:r>
              <a:rPr lang="en-US" sz="1100" b="1" dirty="0">
                <a:solidFill>
                  <a:schemeClr val="accent2"/>
                </a:solidFill>
                <a:latin typeface="+mn-lt"/>
              </a:rPr>
              <a:t>Pandas – </a:t>
            </a:r>
            <a:r>
              <a:rPr lang="en-US" sz="1100" b="1" dirty="0">
                <a:solidFill>
                  <a:schemeClr val="tx1"/>
                </a:solidFill>
                <a:latin typeface="+mn-lt"/>
              </a:rPr>
              <a:t>to store and </a:t>
            </a:r>
            <a:r>
              <a:rPr lang="en-US" sz="1100" b="1" dirty="0" err="1">
                <a:solidFill>
                  <a:schemeClr val="tx1"/>
                </a:solidFill>
                <a:latin typeface="+mn-lt"/>
              </a:rPr>
              <a:t>analyse</a:t>
            </a:r>
            <a:r>
              <a:rPr lang="en-US" sz="1100" b="1" dirty="0">
                <a:solidFill>
                  <a:schemeClr val="tx1"/>
                </a:solidFill>
                <a:latin typeface="+mn-lt"/>
              </a:rPr>
              <a:t> the collected data.</a:t>
            </a:r>
            <a:endParaRPr sz="1100" dirty="0">
              <a:solidFill>
                <a:schemeClr val="tx1"/>
              </a:solidFill>
              <a:latin typeface="+mn-lt"/>
            </a:endParaRPr>
          </a:p>
        </p:txBody>
      </p:sp>
      <p:sp>
        <p:nvSpPr>
          <p:cNvPr id="17" name="Rounded Rectangle 16"/>
          <p:cNvSpPr/>
          <p:nvPr/>
        </p:nvSpPr>
        <p:spPr>
          <a:xfrm>
            <a:off x="7680960" y="1325880"/>
            <a:ext cx="3990650" cy="1575566"/>
          </a:xfrm>
          <a:prstGeom prst="roundRect">
            <a:avLst/>
          </a:prstGeom>
          <a:solidFill>
            <a:srgbClr val="FFFFFF"/>
          </a:solidFill>
          <a:ln w="12700">
            <a:solidFill>
              <a:srgbClr val="DADCE0"/>
            </a:solidFill>
          </a:ln>
          <a:effectLst>
            <a:glow rad="63500">
              <a:schemeClr val="accent4">
                <a:satMod val="175000"/>
                <a:alpha val="40000"/>
              </a:schemeClr>
            </a:glow>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845552" y="1479618"/>
            <a:ext cx="2916936" cy="369332"/>
          </a:xfrm>
          <a:prstGeom prst="rect">
            <a:avLst/>
          </a:prstGeom>
          <a:noFill/>
        </p:spPr>
        <p:txBody>
          <a:bodyPr wrap="square" anchor="t">
            <a:spAutoFit/>
          </a:bodyPr>
          <a:lstStyle/>
          <a:p>
            <a:pPr algn="l">
              <a:defRPr sz="1350" b="1">
                <a:solidFill>
                  <a:srgbClr val="D5242B"/>
                </a:solidFill>
                <a:latin typeface="Aptos"/>
              </a:defRPr>
            </a:pPr>
            <a:r>
              <a:rPr lang="en-IN" sz="1800" u="sng" dirty="0">
                <a:latin typeface="Arial Black" panose="020B0A04020102020204" pitchFamily="34" charset="0"/>
              </a:rPr>
              <a:t>Sample</a:t>
            </a:r>
            <a:endParaRPr sz="1800" u="sng" dirty="0">
              <a:latin typeface="Arial Black" panose="020B0A04020102020204" pitchFamily="34" charset="0"/>
            </a:endParaRPr>
          </a:p>
        </p:txBody>
      </p:sp>
      <p:sp>
        <p:nvSpPr>
          <p:cNvPr id="19" name="TextBox 18"/>
          <p:cNvSpPr txBox="1"/>
          <p:nvPr/>
        </p:nvSpPr>
        <p:spPr>
          <a:xfrm>
            <a:off x="7845551" y="1847088"/>
            <a:ext cx="3684809" cy="830997"/>
          </a:xfrm>
          <a:prstGeom prst="rect">
            <a:avLst/>
          </a:prstGeom>
          <a:noFill/>
        </p:spPr>
        <p:txBody>
          <a:bodyPr wrap="square" anchor="t">
            <a:spAutoFit/>
          </a:bodyPr>
          <a:lstStyle/>
          <a:p>
            <a:pPr marL="171450" indent="-171450">
              <a:buFont typeface="Wingdings" panose="05000000000000000000" pitchFamily="2" charset="2"/>
              <a:buChar char="Ø"/>
            </a:pPr>
            <a:r>
              <a:rPr lang="en-US" sz="1200" b="1" dirty="0"/>
              <a:t>65 bike records</a:t>
            </a:r>
            <a:r>
              <a:rPr lang="en-US" sz="1200" dirty="0"/>
              <a:t> in the cleaned dataset.</a:t>
            </a:r>
          </a:p>
          <a:p>
            <a:pPr marL="171450" indent="-171450">
              <a:buFont typeface="Wingdings" panose="05000000000000000000" pitchFamily="2" charset="2"/>
              <a:buChar char="Ø"/>
            </a:pPr>
            <a:r>
              <a:rPr lang="en-US" sz="1200" b="1" dirty="0"/>
              <a:t>22 brands</a:t>
            </a:r>
            <a:r>
              <a:rPr lang="en-US" sz="1200" dirty="0"/>
              <a:t> represented.</a:t>
            </a:r>
          </a:p>
          <a:p>
            <a:pPr marL="171450" indent="-171450">
              <a:buFont typeface="Wingdings" panose="05000000000000000000" pitchFamily="2" charset="2"/>
              <a:buChar char="Ø"/>
            </a:pPr>
            <a:r>
              <a:rPr lang="en-US" sz="1200" dirty="0"/>
              <a:t>Includes electric and petrol/other bikes.</a:t>
            </a:r>
          </a:p>
          <a:p>
            <a:pPr marL="171450" indent="-171450">
              <a:buFont typeface="Wingdings" panose="05000000000000000000" pitchFamily="2" charset="2"/>
              <a:buChar char="Ø"/>
            </a:pPr>
            <a:r>
              <a:rPr lang="en-US" sz="1200" dirty="0"/>
              <a:t>Individual bike specifications </a:t>
            </a:r>
            <a:r>
              <a:rPr lang="en-US" sz="1200" dirty="0" err="1"/>
              <a:t>analysed</a:t>
            </a:r>
            <a:r>
              <a:rPr lang="en-US" sz="1200" dirty="0"/>
              <a:t>.</a:t>
            </a:r>
          </a:p>
        </p:txBody>
      </p:sp>
      <p:sp>
        <p:nvSpPr>
          <p:cNvPr id="20" name="Rounded Rectangle 19"/>
          <p:cNvSpPr/>
          <p:nvPr/>
        </p:nvSpPr>
        <p:spPr>
          <a:xfrm>
            <a:off x="801858" y="3066576"/>
            <a:ext cx="9803072" cy="3031770"/>
          </a:xfrm>
          <a:prstGeom prst="roundRect">
            <a:avLst/>
          </a:prstGeom>
          <a:solidFill>
            <a:srgbClr val="FFFFFF"/>
          </a:solidFill>
          <a:ln w="12700">
            <a:solidFill>
              <a:srgbClr val="DADCE0"/>
            </a:solidFill>
          </a:ln>
          <a:effectLst>
            <a:glow rad="63500">
              <a:schemeClr val="accent4">
                <a:satMod val="175000"/>
                <a:alpha val="40000"/>
              </a:schemeClr>
            </a:glow>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21" name="TextBox 20"/>
          <p:cNvSpPr txBox="1"/>
          <p:nvPr/>
        </p:nvSpPr>
        <p:spPr>
          <a:xfrm>
            <a:off x="946404" y="3137529"/>
            <a:ext cx="8174178" cy="369332"/>
          </a:xfrm>
          <a:prstGeom prst="rect">
            <a:avLst/>
          </a:prstGeom>
          <a:noFill/>
        </p:spPr>
        <p:txBody>
          <a:bodyPr wrap="square" anchor="t">
            <a:spAutoFit/>
          </a:bodyPr>
          <a:lstStyle/>
          <a:p>
            <a:pPr algn="l">
              <a:defRPr sz="1350" b="1">
                <a:solidFill>
                  <a:srgbClr val="D5242B"/>
                </a:solidFill>
                <a:latin typeface="Aptos"/>
              </a:defRPr>
            </a:pPr>
            <a:r>
              <a:rPr sz="1800" u="sng" dirty="0">
                <a:latin typeface="Arial Black" panose="020B0A04020102020204" pitchFamily="34" charset="0"/>
              </a:rPr>
              <a:t>Raw Dataset Columns</a:t>
            </a:r>
          </a:p>
        </p:txBody>
      </p:sp>
      <p:sp>
        <p:nvSpPr>
          <p:cNvPr id="22" name="TextBox 21"/>
          <p:cNvSpPr txBox="1"/>
          <p:nvPr/>
        </p:nvSpPr>
        <p:spPr>
          <a:xfrm>
            <a:off x="946404" y="3506861"/>
            <a:ext cx="9866376" cy="2308324"/>
          </a:xfrm>
          <a:prstGeom prst="rect">
            <a:avLst/>
          </a:prstGeom>
          <a:noFill/>
        </p:spPr>
        <p:txBody>
          <a:bodyPr wrap="square" anchor="t">
            <a:spAutoFit/>
          </a:bodyPr>
          <a:lstStyle/>
          <a:p>
            <a:pPr marL="342900" indent="-342900">
              <a:buFont typeface="Wingdings" panose="05000000000000000000" pitchFamily="2" charset="2"/>
              <a:buChar char="§"/>
            </a:pPr>
            <a:r>
              <a:rPr lang="en-US" sz="1600" dirty="0"/>
              <a:t>Bike Name</a:t>
            </a:r>
          </a:p>
          <a:p>
            <a:pPr marL="342900" indent="-342900">
              <a:buFont typeface="Wingdings" panose="05000000000000000000" pitchFamily="2" charset="2"/>
              <a:buChar char="§"/>
            </a:pPr>
            <a:r>
              <a:rPr lang="en-US" sz="1600" dirty="0"/>
              <a:t>URL</a:t>
            </a:r>
          </a:p>
          <a:p>
            <a:pPr marL="342900" indent="-342900">
              <a:buFont typeface="Wingdings" panose="05000000000000000000" pitchFamily="2" charset="2"/>
              <a:buChar char="§"/>
            </a:pPr>
            <a:r>
              <a:rPr lang="en-US" sz="1600" dirty="0"/>
              <a:t>Starting Price</a:t>
            </a:r>
          </a:p>
          <a:p>
            <a:pPr marL="342900" indent="-342900">
              <a:buFont typeface="Wingdings" panose="05000000000000000000" pitchFamily="2" charset="2"/>
              <a:buChar char="§"/>
            </a:pPr>
            <a:r>
              <a:rPr lang="en-US" sz="1600" dirty="0"/>
              <a:t>Engine Capacity (CC)</a:t>
            </a:r>
          </a:p>
          <a:p>
            <a:pPr marL="342900" indent="-342900">
              <a:buFont typeface="Wingdings" panose="05000000000000000000" pitchFamily="2" charset="2"/>
              <a:buChar char="§"/>
            </a:pPr>
            <a:r>
              <a:rPr lang="en-US" sz="1600" dirty="0"/>
              <a:t>Mileage (KMPL)</a:t>
            </a:r>
          </a:p>
          <a:p>
            <a:pPr marL="342900" indent="-342900">
              <a:buFont typeface="Wingdings" panose="05000000000000000000" pitchFamily="2" charset="2"/>
              <a:buChar char="§"/>
            </a:pPr>
            <a:r>
              <a:rPr lang="en-US" sz="1600" dirty="0"/>
              <a:t>Max Power (BHP)</a:t>
            </a:r>
          </a:p>
          <a:p>
            <a:pPr marL="342900" indent="-342900">
              <a:buFont typeface="Wingdings" panose="05000000000000000000" pitchFamily="2" charset="2"/>
              <a:buChar char="§"/>
            </a:pPr>
            <a:r>
              <a:rPr lang="en-US" sz="1600" dirty="0" err="1"/>
              <a:t>Kerb</a:t>
            </a:r>
            <a:r>
              <a:rPr lang="en-US" sz="1600" dirty="0"/>
              <a:t> Weight (KG)</a:t>
            </a:r>
          </a:p>
          <a:p>
            <a:pPr marL="342900" indent="-342900">
              <a:buFont typeface="Wingdings" panose="05000000000000000000" pitchFamily="2" charset="2"/>
              <a:buChar char="§"/>
            </a:pPr>
            <a:r>
              <a:rPr lang="en-US" sz="1600" dirty="0"/>
              <a:t>User Rating</a:t>
            </a:r>
          </a:p>
          <a:p>
            <a:pPr marL="342900" indent="-342900">
              <a:buFont typeface="Wingdings" panose="05000000000000000000" pitchFamily="2" charset="2"/>
              <a:buChar char="§"/>
            </a:pPr>
            <a:r>
              <a:rPr lang="en-US" sz="1600" dirty="0"/>
              <a:t>Number of Ratings</a:t>
            </a:r>
          </a:p>
        </p:txBody>
      </p:sp>
      <p:sp>
        <p:nvSpPr>
          <p:cNvPr id="23" name="TextBox 22"/>
          <p:cNvSpPr txBox="1"/>
          <p:nvPr/>
        </p:nvSpPr>
        <p:spPr>
          <a:xfrm>
            <a:off x="546530" y="6268915"/>
            <a:ext cx="10058400" cy="338554"/>
          </a:xfrm>
          <a:prstGeom prst="rect">
            <a:avLst/>
          </a:prstGeom>
          <a:noFill/>
        </p:spPr>
        <p:txBody>
          <a:bodyPr wrap="square" anchor="t">
            <a:spAutoFit/>
          </a:bodyPr>
          <a:lstStyle/>
          <a:p>
            <a:pPr algn="ctr">
              <a:defRPr sz="1250" b="0">
                <a:solidFill>
                  <a:srgbClr val="5C5C5C"/>
                </a:solidFill>
                <a:latin typeface="Aptos"/>
              </a:defRPr>
            </a:pPr>
            <a:r>
              <a:rPr sz="1600" dirty="0">
                <a:latin typeface="Arial" panose="020B0604020202020204" pitchFamily="34" charset="0"/>
                <a:cs typeface="Arial" panose="020B0604020202020204" pitchFamily="34" charset="0"/>
              </a:rPr>
              <a:t>The scraped values were inspected and cleaned before EDA.</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clean_content_bg15.png"/>
          <p:cNvPicPr>
            <a:picLocks noChangeAspect="1"/>
          </p:cNvPicPr>
          <p:nvPr/>
        </p:nvPicPr>
        <p:blipFill>
          <a:blip r:embed="rId3"/>
          <a:stretch>
            <a:fillRect/>
          </a:stretch>
        </p:blipFill>
        <p:spPr>
          <a:xfrm>
            <a:off x="0" y="-89209"/>
            <a:ext cx="12192000" cy="6145823"/>
          </a:xfrm>
          <a:prstGeom prst="rect">
            <a:avLst/>
          </a:prstGeom>
        </p:spPr>
      </p:pic>
      <p:sp>
        <p:nvSpPr>
          <p:cNvPr id="8" name="TextBox 7"/>
          <p:cNvSpPr txBox="1"/>
          <p:nvPr/>
        </p:nvSpPr>
        <p:spPr>
          <a:xfrm>
            <a:off x="1640644" y="430042"/>
            <a:ext cx="9509760" cy="523220"/>
          </a:xfrm>
          <a:prstGeom prst="rect">
            <a:avLst/>
          </a:prstGeom>
          <a:noFill/>
        </p:spPr>
        <p:txBody>
          <a:bodyPr wrap="square" anchor="t">
            <a:spAutoFit/>
          </a:bodyPr>
          <a:lstStyle/>
          <a:p>
            <a:pPr algn="l">
              <a:defRPr sz="2300" b="1">
                <a:solidFill>
                  <a:srgbClr val="D5242B"/>
                </a:solidFill>
                <a:latin typeface="Aptos"/>
              </a:defRPr>
            </a:pPr>
            <a:r>
              <a:rPr sz="2800" dirty="0">
                <a:effectLst>
                  <a:outerShdw blurRad="38100" dist="38100" dir="2700000" algn="tl">
                    <a:srgbClr val="000000">
                      <a:alpha val="43137"/>
                    </a:srgbClr>
                  </a:outerShdw>
                </a:effectLst>
                <a:latin typeface="Arial Black" panose="020B0A04020102020204" pitchFamily="34" charset="0"/>
              </a:rPr>
              <a:t>Understanding Dataset</a:t>
            </a:r>
          </a:p>
        </p:txBody>
      </p:sp>
      <p:sp>
        <p:nvSpPr>
          <p:cNvPr id="9" name="Rectangle 8"/>
          <p:cNvSpPr/>
          <p:nvPr/>
        </p:nvSpPr>
        <p:spPr>
          <a:xfrm>
            <a:off x="1578041" y="932797"/>
            <a:ext cx="10058400" cy="22860"/>
          </a:xfrm>
          <a:prstGeom prst="rect">
            <a:avLst/>
          </a:prstGeom>
          <a:solidFill>
            <a:srgbClr val="DADC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1292937" y="1220529"/>
            <a:ext cx="4228632" cy="4704674"/>
          </a:xfrm>
          <a:prstGeom prst="roundRect">
            <a:avLst/>
          </a:prstGeom>
          <a:solidFill>
            <a:srgbClr val="FFFFFF"/>
          </a:solidFill>
          <a:ln w="12700">
            <a:solidFill>
              <a:srgbClr val="DADCE0"/>
            </a:solidFill>
          </a:ln>
          <a:effectLst>
            <a:glow rad="63500">
              <a:schemeClr val="accent4">
                <a:satMod val="175000"/>
                <a:alpha val="40000"/>
              </a:schemeClr>
            </a:glow>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578041" y="1474224"/>
            <a:ext cx="4562855" cy="369332"/>
          </a:xfrm>
          <a:prstGeom prst="rect">
            <a:avLst/>
          </a:prstGeom>
          <a:noFill/>
        </p:spPr>
        <p:txBody>
          <a:bodyPr wrap="square" anchor="t">
            <a:spAutoFit/>
          </a:bodyPr>
          <a:lstStyle/>
          <a:p>
            <a:pPr algn="l">
              <a:defRPr sz="1350" b="1">
                <a:solidFill>
                  <a:srgbClr val="D5242B"/>
                </a:solidFill>
                <a:latin typeface="Aptos"/>
              </a:defRPr>
            </a:pPr>
            <a:r>
              <a:rPr sz="1800" u="sng" dirty="0">
                <a:latin typeface="Arial Black" panose="020B0A04020102020204" pitchFamily="34" charset="0"/>
              </a:rPr>
              <a:t>Feature Meaning</a:t>
            </a:r>
          </a:p>
        </p:txBody>
      </p:sp>
      <p:sp>
        <p:nvSpPr>
          <p:cNvPr id="13" name="TextBox 12"/>
          <p:cNvSpPr txBox="1"/>
          <p:nvPr/>
        </p:nvSpPr>
        <p:spPr>
          <a:xfrm>
            <a:off x="1292937" y="1795795"/>
            <a:ext cx="4163726" cy="3539430"/>
          </a:xfrm>
          <a:prstGeom prst="rect">
            <a:avLst/>
          </a:prstGeom>
          <a:noFill/>
        </p:spPr>
        <p:txBody>
          <a:bodyPr wrap="square" anchor="t">
            <a:spAutoFit/>
          </a:bodyPr>
          <a:lstStyle/>
          <a:p>
            <a:pPr marL="285750" indent="-285750" algn="l">
              <a:buFont typeface="Arial" panose="020B0604020202020204" pitchFamily="34" charset="0"/>
              <a:buChar char="•"/>
              <a:defRPr sz="1400" b="0">
                <a:solidFill>
                  <a:srgbClr val="262626"/>
                </a:solidFill>
                <a:latin typeface="Aptos"/>
              </a:defRPr>
            </a:pPr>
            <a:r>
              <a:rPr lang="en-US" b="1" dirty="0">
                <a:solidFill>
                  <a:schemeClr val="accent2"/>
                </a:solidFill>
                <a:latin typeface="Arial" panose="020B0604020202020204" pitchFamily="34" charset="0"/>
                <a:cs typeface="Arial" panose="020B0604020202020204" pitchFamily="34" charset="0"/>
              </a:rPr>
              <a:t>Bike Name: </a:t>
            </a:r>
            <a:r>
              <a:rPr lang="en-US" b="1" dirty="0">
                <a:solidFill>
                  <a:schemeClr val="tx1"/>
                </a:solidFill>
                <a:latin typeface="Arial" panose="020B0604020202020204" pitchFamily="34" charset="0"/>
                <a:cs typeface="Arial" panose="020B0604020202020204" pitchFamily="34" charset="0"/>
              </a:rPr>
              <a:t>Identifies the bike model.</a:t>
            </a:r>
          </a:p>
          <a:p>
            <a:pPr marL="285750" indent="-285750" algn="l">
              <a:buFont typeface="Arial" panose="020B0604020202020204" pitchFamily="34" charset="0"/>
              <a:buChar char="•"/>
              <a:defRPr sz="1400" b="0">
                <a:solidFill>
                  <a:srgbClr val="262626"/>
                </a:solidFill>
                <a:latin typeface="Aptos"/>
              </a:defRPr>
            </a:pPr>
            <a:r>
              <a:rPr lang="en-US" b="1" dirty="0">
                <a:solidFill>
                  <a:schemeClr val="accent2"/>
                </a:solidFill>
                <a:latin typeface="Arial" panose="020B0604020202020204" pitchFamily="34" charset="0"/>
                <a:cs typeface="Arial" panose="020B0604020202020204" pitchFamily="34" charset="0"/>
              </a:rPr>
              <a:t>URL: </a:t>
            </a:r>
            <a:r>
              <a:rPr lang="en-US" b="1" dirty="0">
                <a:solidFill>
                  <a:schemeClr val="tx1"/>
                </a:solidFill>
                <a:latin typeface="Arial" panose="020B0604020202020204" pitchFamily="34" charset="0"/>
                <a:cs typeface="Arial" panose="020B0604020202020204" pitchFamily="34" charset="0"/>
              </a:rPr>
              <a:t>Provides the source page for the record.</a:t>
            </a:r>
          </a:p>
          <a:p>
            <a:pPr marL="285750" indent="-285750" algn="l">
              <a:buFont typeface="Arial" panose="020B0604020202020204" pitchFamily="34" charset="0"/>
              <a:buChar char="•"/>
              <a:defRPr sz="1400" b="0">
                <a:solidFill>
                  <a:srgbClr val="262626"/>
                </a:solidFill>
                <a:latin typeface="Aptos"/>
              </a:defRPr>
            </a:pPr>
            <a:r>
              <a:rPr lang="en-US" b="1" dirty="0">
                <a:solidFill>
                  <a:schemeClr val="accent2"/>
                </a:solidFill>
                <a:latin typeface="Arial" panose="020B0604020202020204" pitchFamily="34" charset="0"/>
                <a:cs typeface="Arial" panose="020B0604020202020204" pitchFamily="34" charset="0"/>
              </a:rPr>
              <a:t>Brand: </a:t>
            </a:r>
            <a:r>
              <a:rPr lang="en-US" b="1" dirty="0">
                <a:solidFill>
                  <a:schemeClr val="tx1"/>
                </a:solidFill>
                <a:latin typeface="Arial" panose="020B0604020202020204" pitchFamily="34" charset="0"/>
                <a:cs typeface="Arial" panose="020B0604020202020204" pitchFamily="34" charset="0"/>
              </a:rPr>
              <a:t>Identifies the manufacturer.</a:t>
            </a:r>
          </a:p>
          <a:p>
            <a:pPr marL="285750" indent="-285750" algn="l">
              <a:buFont typeface="Arial" panose="020B0604020202020204" pitchFamily="34" charset="0"/>
              <a:buChar char="•"/>
              <a:defRPr sz="1400" b="0">
                <a:solidFill>
                  <a:srgbClr val="262626"/>
                </a:solidFill>
                <a:latin typeface="Aptos"/>
              </a:defRPr>
            </a:pPr>
            <a:r>
              <a:rPr lang="en-US" b="1" dirty="0">
                <a:solidFill>
                  <a:schemeClr val="accent2"/>
                </a:solidFill>
                <a:latin typeface="Arial" panose="020B0604020202020204" pitchFamily="34" charset="0"/>
                <a:cs typeface="Arial" panose="020B0604020202020204" pitchFamily="34" charset="0"/>
              </a:rPr>
              <a:t>Starting Price: </a:t>
            </a:r>
            <a:r>
              <a:rPr lang="en-US" b="1" dirty="0">
                <a:solidFill>
                  <a:schemeClr val="tx1"/>
                </a:solidFill>
                <a:latin typeface="Arial" panose="020B0604020202020204" pitchFamily="34" charset="0"/>
                <a:cs typeface="Arial" panose="020B0604020202020204" pitchFamily="34" charset="0"/>
              </a:rPr>
              <a:t>Listed starting price in Indian rupees.</a:t>
            </a:r>
          </a:p>
          <a:p>
            <a:pPr marL="285750" indent="-285750" algn="l">
              <a:buFont typeface="Arial" panose="020B0604020202020204" pitchFamily="34" charset="0"/>
              <a:buChar char="•"/>
              <a:defRPr sz="1400" b="0">
                <a:solidFill>
                  <a:srgbClr val="262626"/>
                </a:solidFill>
                <a:latin typeface="Aptos"/>
              </a:defRPr>
            </a:pPr>
            <a:r>
              <a:rPr lang="en-US" b="1" dirty="0">
                <a:solidFill>
                  <a:schemeClr val="accent2"/>
                </a:solidFill>
                <a:latin typeface="Arial" panose="020B0604020202020204" pitchFamily="34" charset="0"/>
                <a:cs typeface="Arial" panose="020B0604020202020204" pitchFamily="34" charset="0"/>
              </a:rPr>
              <a:t>Engine Capacity: </a:t>
            </a:r>
            <a:r>
              <a:rPr lang="en-US" b="1" dirty="0">
                <a:solidFill>
                  <a:schemeClr val="tx1"/>
                </a:solidFill>
                <a:latin typeface="Arial" panose="020B0604020202020204" pitchFamily="34" charset="0"/>
                <a:cs typeface="Arial" panose="020B0604020202020204" pitchFamily="34" charset="0"/>
              </a:rPr>
              <a:t>Engine displacement measured in cc.</a:t>
            </a:r>
          </a:p>
          <a:p>
            <a:pPr marL="285750" indent="-285750" algn="l">
              <a:buFont typeface="Arial" panose="020B0604020202020204" pitchFamily="34" charset="0"/>
              <a:buChar char="•"/>
              <a:defRPr sz="1400" b="0">
                <a:solidFill>
                  <a:srgbClr val="262626"/>
                </a:solidFill>
                <a:latin typeface="Aptos"/>
              </a:defRPr>
            </a:pPr>
            <a:r>
              <a:rPr lang="en-US" b="1" dirty="0">
                <a:solidFill>
                  <a:schemeClr val="accent2"/>
                </a:solidFill>
                <a:latin typeface="Arial" panose="020B0604020202020204" pitchFamily="34" charset="0"/>
                <a:cs typeface="Arial" panose="020B0604020202020204" pitchFamily="34" charset="0"/>
              </a:rPr>
              <a:t>Mileage: </a:t>
            </a:r>
            <a:r>
              <a:rPr lang="en-US" b="1" dirty="0">
                <a:solidFill>
                  <a:schemeClr val="tx1"/>
                </a:solidFill>
                <a:latin typeface="Arial" panose="020B0604020202020204" pitchFamily="34" charset="0"/>
                <a:cs typeface="Arial" panose="020B0604020202020204" pitchFamily="34" charset="0"/>
              </a:rPr>
              <a:t>Reported fuel economy, generally in km/l.</a:t>
            </a:r>
          </a:p>
          <a:p>
            <a:pPr marL="285750" indent="-285750" algn="l">
              <a:buFont typeface="Arial" panose="020B0604020202020204" pitchFamily="34" charset="0"/>
              <a:buChar char="•"/>
              <a:defRPr sz="1400" b="0">
                <a:solidFill>
                  <a:srgbClr val="262626"/>
                </a:solidFill>
                <a:latin typeface="Aptos"/>
              </a:defRPr>
            </a:pPr>
            <a:r>
              <a:rPr lang="en-US" b="1" dirty="0">
                <a:solidFill>
                  <a:schemeClr val="accent2"/>
                </a:solidFill>
                <a:latin typeface="Arial" panose="020B0604020202020204" pitchFamily="34" charset="0"/>
                <a:cs typeface="Arial" panose="020B0604020202020204" pitchFamily="34" charset="0"/>
              </a:rPr>
              <a:t>Maximum Power: </a:t>
            </a:r>
            <a:r>
              <a:rPr lang="en-US" b="1" dirty="0">
                <a:solidFill>
                  <a:schemeClr val="tx1"/>
                </a:solidFill>
                <a:latin typeface="Arial" panose="020B0604020202020204" pitchFamily="34" charset="0"/>
                <a:cs typeface="Arial" panose="020B0604020202020204" pitchFamily="34" charset="0"/>
              </a:rPr>
              <a:t>Reported engine power.</a:t>
            </a:r>
          </a:p>
          <a:p>
            <a:pPr marL="285750" indent="-285750" algn="l">
              <a:buFont typeface="Arial" panose="020B0604020202020204" pitchFamily="34" charset="0"/>
              <a:buChar char="•"/>
              <a:defRPr sz="1400" b="0">
                <a:solidFill>
                  <a:srgbClr val="262626"/>
                </a:solidFill>
                <a:latin typeface="Aptos"/>
              </a:defRPr>
            </a:pPr>
            <a:r>
              <a:rPr lang="en-US" b="1" dirty="0" err="1">
                <a:solidFill>
                  <a:schemeClr val="accent2"/>
                </a:solidFill>
                <a:latin typeface="Arial" panose="020B0604020202020204" pitchFamily="34" charset="0"/>
                <a:cs typeface="Arial" panose="020B0604020202020204" pitchFamily="34" charset="0"/>
              </a:rPr>
              <a:t>Kerb</a:t>
            </a:r>
            <a:r>
              <a:rPr lang="en-US" b="1" dirty="0">
                <a:solidFill>
                  <a:schemeClr val="accent2"/>
                </a:solidFill>
                <a:latin typeface="Arial" panose="020B0604020202020204" pitchFamily="34" charset="0"/>
                <a:cs typeface="Arial" panose="020B0604020202020204" pitchFamily="34" charset="0"/>
              </a:rPr>
              <a:t> Weight: </a:t>
            </a:r>
            <a:r>
              <a:rPr lang="en-US" b="1" dirty="0">
                <a:solidFill>
                  <a:schemeClr val="tx1"/>
                </a:solidFill>
                <a:latin typeface="Arial" panose="020B0604020202020204" pitchFamily="34" charset="0"/>
                <a:cs typeface="Arial" panose="020B0604020202020204" pitchFamily="34" charset="0"/>
              </a:rPr>
              <a:t>Weight of the bike in kilograms.</a:t>
            </a:r>
          </a:p>
          <a:p>
            <a:pPr marL="285750" indent="-285750" algn="l">
              <a:buFont typeface="Arial" panose="020B0604020202020204" pitchFamily="34" charset="0"/>
              <a:buChar char="•"/>
              <a:defRPr sz="1400" b="0">
                <a:solidFill>
                  <a:srgbClr val="262626"/>
                </a:solidFill>
                <a:latin typeface="Aptos"/>
              </a:defRPr>
            </a:pPr>
            <a:r>
              <a:rPr lang="en-US" b="1" dirty="0">
                <a:solidFill>
                  <a:schemeClr val="accent2"/>
                </a:solidFill>
                <a:latin typeface="Arial" panose="020B0604020202020204" pitchFamily="34" charset="0"/>
                <a:cs typeface="Arial" panose="020B0604020202020204" pitchFamily="34" charset="0"/>
              </a:rPr>
              <a:t>User Rating: </a:t>
            </a:r>
            <a:r>
              <a:rPr lang="en-US" b="1" dirty="0">
                <a:solidFill>
                  <a:schemeClr val="tx1"/>
                </a:solidFill>
                <a:latin typeface="Arial" panose="020B0604020202020204" pitchFamily="34" charset="0"/>
                <a:cs typeface="Arial" panose="020B0604020202020204" pitchFamily="34" charset="0"/>
              </a:rPr>
              <a:t>Rating given by users.</a:t>
            </a:r>
          </a:p>
          <a:p>
            <a:pPr marL="285750" indent="-285750" algn="l">
              <a:buFont typeface="Arial" panose="020B0604020202020204" pitchFamily="34" charset="0"/>
              <a:buChar char="•"/>
              <a:defRPr sz="1400" b="0">
                <a:solidFill>
                  <a:srgbClr val="262626"/>
                </a:solidFill>
                <a:latin typeface="Aptos"/>
              </a:defRPr>
            </a:pPr>
            <a:r>
              <a:rPr lang="en-US" b="1" dirty="0">
                <a:solidFill>
                  <a:schemeClr val="accent2"/>
                </a:solidFill>
                <a:latin typeface="Arial" panose="020B0604020202020204" pitchFamily="34" charset="0"/>
                <a:cs typeface="Arial" panose="020B0604020202020204" pitchFamily="34" charset="0"/>
              </a:rPr>
              <a:t>Number of Ratings: </a:t>
            </a:r>
            <a:r>
              <a:rPr lang="en-US" b="1" dirty="0">
                <a:solidFill>
                  <a:schemeClr val="tx1"/>
                </a:solidFill>
                <a:latin typeface="Arial" panose="020B0604020202020204" pitchFamily="34" charset="0"/>
                <a:cs typeface="Arial" panose="020B0604020202020204" pitchFamily="34" charset="0"/>
              </a:rPr>
              <a:t>Number of user ratings, when available.</a:t>
            </a:r>
            <a:endParaRPr b="1" dirty="0">
              <a:solidFill>
                <a:schemeClr val="tx1"/>
              </a:solidFill>
              <a:latin typeface="Arial" panose="020B0604020202020204" pitchFamily="34" charset="0"/>
              <a:cs typeface="Arial" panose="020B0604020202020204" pitchFamily="34" charset="0"/>
            </a:endParaRPr>
          </a:p>
        </p:txBody>
      </p:sp>
      <p:sp>
        <p:nvSpPr>
          <p:cNvPr id="14" name="Rounded Rectangle 13"/>
          <p:cNvSpPr/>
          <p:nvPr/>
        </p:nvSpPr>
        <p:spPr>
          <a:xfrm>
            <a:off x="5914761" y="1220529"/>
            <a:ext cx="4354654" cy="3879009"/>
          </a:xfrm>
          <a:prstGeom prst="roundRect">
            <a:avLst/>
          </a:prstGeom>
          <a:solidFill>
            <a:srgbClr val="FFFFFF"/>
          </a:solidFill>
          <a:ln w="12700">
            <a:solidFill>
              <a:srgbClr val="DADCE0"/>
            </a:solidFill>
          </a:ln>
          <a:effectLst>
            <a:glow rad="63500">
              <a:schemeClr val="accent4">
                <a:satMod val="175000"/>
                <a:alpha val="40000"/>
              </a:schemeClr>
            </a:glow>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096000" y="1416750"/>
            <a:ext cx="3113884" cy="369332"/>
          </a:xfrm>
          <a:prstGeom prst="rect">
            <a:avLst/>
          </a:prstGeom>
          <a:noFill/>
          <a:effectLst>
            <a:glow rad="63500">
              <a:schemeClr val="accent4">
                <a:satMod val="175000"/>
                <a:alpha val="40000"/>
              </a:schemeClr>
            </a:glow>
          </a:effectLst>
        </p:spPr>
        <p:txBody>
          <a:bodyPr wrap="square" anchor="t">
            <a:spAutoFit/>
          </a:bodyPr>
          <a:lstStyle/>
          <a:p>
            <a:pPr algn="l">
              <a:defRPr sz="1350" b="1">
                <a:solidFill>
                  <a:srgbClr val="D5242B"/>
                </a:solidFill>
                <a:latin typeface="Aptos"/>
              </a:defRPr>
            </a:pPr>
            <a:r>
              <a:rPr sz="1800" u="sng" dirty="0">
                <a:latin typeface="Arial Black" panose="020B0A04020102020204" pitchFamily="34" charset="0"/>
              </a:rPr>
              <a:t>Initial Observations</a:t>
            </a:r>
          </a:p>
        </p:txBody>
      </p:sp>
      <p:sp>
        <p:nvSpPr>
          <p:cNvPr id="16" name="TextBox 15"/>
          <p:cNvSpPr txBox="1"/>
          <p:nvPr/>
        </p:nvSpPr>
        <p:spPr>
          <a:xfrm>
            <a:off x="6004852" y="1795795"/>
            <a:ext cx="3860259" cy="3046988"/>
          </a:xfrm>
          <a:prstGeom prst="rect">
            <a:avLst/>
          </a:prstGeom>
          <a:noFill/>
        </p:spPr>
        <p:txBody>
          <a:bodyPr wrap="square" anchor="t">
            <a:spAutoFit/>
          </a:bodyPr>
          <a:lstStyle/>
          <a:p>
            <a:pPr marL="285750" indent="-285750" algn="l">
              <a:buFont typeface="Arial" panose="020B0604020202020204" pitchFamily="34" charset="0"/>
              <a:buChar char="•"/>
              <a:defRPr sz="1300" b="0">
                <a:solidFill>
                  <a:srgbClr val="262626"/>
                </a:solidFill>
                <a:latin typeface="Aptos"/>
              </a:defRPr>
            </a:pPr>
            <a:r>
              <a:rPr lang="en-US" sz="1600" dirty="0">
                <a:solidFill>
                  <a:schemeClr val="tx1"/>
                </a:solidFill>
                <a:latin typeface="Arial" panose="020B0604020202020204" pitchFamily="34" charset="0"/>
                <a:cs typeface="Arial" panose="020B0604020202020204" pitchFamily="34" charset="0"/>
              </a:rPr>
              <a:t> Specifications were collected from </a:t>
            </a:r>
            <a:r>
              <a:rPr lang="en-US" sz="1600" dirty="0" err="1">
                <a:solidFill>
                  <a:schemeClr val="tx1"/>
                </a:solidFill>
                <a:latin typeface="Arial" panose="020B0604020202020204" pitchFamily="34" charset="0"/>
                <a:cs typeface="Arial" panose="020B0604020202020204" pitchFamily="34" charset="0"/>
              </a:rPr>
              <a:t>BikeWale</a:t>
            </a:r>
            <a:r>
              <a:rPr lang="en-US" sz="1600" dirty="0">
                <a:solidFill>
                  <a:schemeClr val="tx1"/>
                </a:solidFill>
                <a:latin typeface="Arial" panose="020B0604020202020204" pitchFamily="34" charset="0"/>
                <a:cs typeface="Arial" panose="020B0604020202020204" pitchFamily="34" charset="0"/>
              </a:rPr>
              <a:t> webpages.</a:t>
            </a:r>
          </a:p>
          <a:p>
            <a:pPr marL="285750" indent="-285750" algn="l">
              <a:buFont typeface="Arial" panose="020B0604020202020204" pitchFamily="34" charset="0"/>
              <a:buChar char="•"/>
              <a:defRPr sz="1300" b="0">
                <a:solidFill>
                  <a:srgbClr val="262626"/>
                </a:solidFill>
                <a:latin typeface="Aptos"/>
              </a:defRPr>
            </a:pPr>
            <a:r>
              <a:rPr lang="en-US" sz="1600" dirty="0">
                <a:solidFill>
                  <a:schemeClr val="tx1"/>
                </a:solidFill>
                <a:latin typeface="Arial" panose="020B0604020202020204" pitchFamily="34" charset="0"/>
                <a:cs typeface="Arial" panose="020B0604020202020204" pitchFamily="34" charset="0"/>
              </a:rPr>
              <a:t>Price and technical specifications required cleaning and numeric conversion.</a:t>
            </a:r>
          </a:p>
          <a:p>
            <a:pPr marL="285750" indent="-285750" algn="l">
              <a:buFont typeface="Arial" panose="020B0604020202020204" pitchFamily="34" charset="0"/>
              <a:buChar char="•"/>
              <a:defRPr sz="1300" b="0">
                <a:solidFill>
                  <a:srgbClr val="262626"/>
                </a:solidFill>
                <a:latin typeface="Aptos"/>
              </a:defRPr>
            </a:pPr>
            <a:r>
              <a:rPr lang="en-US" sz="1600" dirty="0">
                <a:solidFill>
                  <a:schemeClr val="tx1"/>
                </a:solidFill>
                <a:latin typeface="Arial" panose="020B0604020202020204" pitchFamily="34" charset="0"/>
                <a:cs typeface="Arial" panose="020B0604020202020204" pitchFamily="34" charset="0"/>
              </a:rPr>
              <a:t>Some specifications were missing or unavailable.</a:t>
            </a:r>
          </a:p>
          <a:p>
            <a:pPr marL="285750" indent="-285750" algn="l">
              <a:buFont typeface="Arial" panose="020B0604020202020204" pitchFamily="34" charset="0"/>
              <a:buChar char="•"/>
              <a:defRPr sz="1300" b="0">
                <a:solidFill>
                  <a:srgbClr val="262626"/>
                </a:solidFill>
                <a:latin typeface="Aptos"/>
              </a:defRPr>
            </a:pPr>
            <a:r>
              <a:rPr lang="en-US" sz="1600" dirty="0">
                <a:solidFill>
                  <a:schemeClr val="tx1"/>
                </a:solidFill>
                <a:latin typeface="Arial" panose="020B0604020202020204" pitchFamily="34" charset="0"/>
                <a:cs typeface="Arial" panose="020B0604020202020204" pitchFamily="34" charset="0"/>
              </a:rPr>
              <a:t>Electric and petrol bikes required separate consideration.</a:t>
            </a:r>
          </a:p>
          <a:p>
            <a:pPr marL="285750" indent="-285750" algn="l">
              <a:buFont typeface="Arial" panose="020B0604020202020204" pitchFamily="34" charset="0"/>
              <a:buChar char="•"/>
              <a:defRPr sz="1300" b="0">
                <a:solidFill>
                  <a:srgbClr val="262626"/>
                </a:solidFill>
                <a:latin typeface="Aptos"/>
              </a:defRPr>
            </a:pPr>
            <a:r>
              <a:rPr lang="en-US" sz="1600" dirty="0">
                <a:solidFill>
                  <a:schemeClr val="tx1"/>
                </a:solidFill>
                <a:latin typeface="Arial" panose="020B0604020202020204" pitchFamily="34" charset="0"/>
                <a:cs typeface="Arial" panose="020B0604020202020204" pitchFamily="34" charset="0"/>
              </a:rPr>
              <a:t>Suspicious model names and specifications were flagged for verification before final analysis.</a:t>
            </a:r>
            <a:endParaRPr sz="1600" dirty="0">
              <a:solidFill>
                <a:schemeClr val="tx1"/>
              </a:solidFill>
              <a:latin typeface="Arial" panose="020B0604020202020204" pitchFamily="34" charset="0"/>
              <a:cs typeface="Arial" panose="020B0604020202020204" pitchFamily="34"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clean_content_bg15.png"/>
          <p:cNvPicPr>
            <a:picLocks noChangeAspect="1"/>
          </p:cNvPicPr>
          <p:nvPr/>
        </p:nvPicPr>
        <p:blipFill>
          <a:blip r:embed="rId2"/>
          <a:stretch>
            <a:fillRect/>
          </a:stretch>
        </p:blipFill>
        <p:spPr>
          <a:xfrm>
            <a:off x="0" y="-90773"/>
            <a:ext cx="12192000" cy="6295809"/>
          </a:xfrm>
          <a:prstGeom prst="rect">
            <a:avLst/>
          </a:prstGeom>
        </p:spPr>
      </p:pic>
      <p:sp>
        <p:nvSpPr>
          <p:cNvPr id="8" name="TextBox 7"/>
          <p:cNvSpPr txBox="1"/>
          <p:nvPr/>
        </p:nvSpPr>
        <p:spPr>
          <a:xfrm>
            <a:off x="1572767" y="468423"/>
            <a:ext cx="9509760" cy="461665"/>
          </a:xfrm>
          <a:prstGeom prst="rect">
            <a:avLst/>
          </a:prstGeom>
          <a:noFill/>
        </p:spPr>
        <p:txBody>
          <a:bodyPr wrap="square" anchor="t">
            <a:spAutoFit/>
          </a:bodyPr>
          <a:lstStyle/>
          <a:p>
            <a:pPr algn="l">
              <a:defRPr sz="2300" b="1">
                <a:solidFill>
                  <a:srgbClr val="D5242B"/>
                </a:solidFill>
                <a:latin typeface="Aptos"/>
              </a:defRPr>
            </a:pPr>
            <a:r>
              <a:rPr sz="2400" dirty="0">
                <a:effectLst>
                  <a:outerShdw blurRad="38100" dist="38100" dir="2700000" algn="tl">
                    <a:srgbClr val="000000">
                      <a:alpha val="43137"/>
                    </a:srgbClr>
                  </a:outerShdw>
                </a:effectLst>
                <a:latin typeface="Arial Black" panose="020B0A04020102020204" pitchFamily="34" charset="0"/>
              </a:rPr>
              <a:t>Data Cleaning </a:t>
            </a:r>
          </a:p>
        </p:txBody>
      </p:sp>
      <p:sp>
        <p:nvSpPr>
          <p:cNvPr id="9" name="Rectangle 8"/>
          <p:cNvSpPr/>
          <p:nvPr/>
        </p:nvSpPr>
        <p:spPr>
          <a:xfrm>
            <a:off x="1376876" y="904185"/>
            <a:ext cx="10058400" cy="22860"/>
          </a:xfrm>
          <a:prstGeom prst="rect">
            <a:avLst/>
          </a:prstGeom>
          <a:solidFill>
            <a:srgbClr val="DADC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756889" y="1075447"/>
            <a:ext cx="2575560" cy="2530345"/>
          </a:xfrm>
          <a:prstGeom prst="roundRect">
            <a:avLst/>
          </a:prstGeom>
          <a:solidFill>
            <a:srgbClr val="FFFFFF"/>
          </a:solidFill>
          <a:ln w="12700">
            <a:solidFill>
              <a:srgbClr val="DADCE0"/>
            </a:solidFill>
          </a:ln>
          <a:effectLst>
            <a:glow rad="63500">
              <a:schemeClr val="accent4">
                <a:satMod val="175000"/>
                <a:alpha val="40000"/>
              </a:schemeClr>
            </a:glow>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2" name="TextBox 11"/>
          <p:cNvSpPr txBox="1"/>
          <p:nvPr/>
        </p:nvSpPr>
        <p:spPr>
          <a:xfrm>
            <a:off x="951961" y="1140852"/>
            <a:ext cx="2185416" cy="338554"/>
          </a:xfrm>
          <a:prstGeom prst="rect">
            <a:avLst/>
          </a:prstGeom>
          <a:noFill/>
        </p:spPr>
        <p:txBody>
          <a:bodyPr wrap="square" anchor="t">
            <a:spAutoFit/>
          </a:bodyPr>
          <a:lstStyle/>
          <a:p>
            <a:pPr algn="ctr">
              <a:defRPr sz="1350" b="1">
                <a:solidFill>
                  <a:srgbClr val="D5242B"/>
                </a:solidFill>
                <a:latin typeface="Aptos"/>
              </a:defRPr>
            </a:pPr>
            <a:r>
              <a:rPr sz="1600" u="sng" dirty="0">
                <a:latin typeface="Arial Black" panose="020B0A04020102020204" pitchFamily="34" charset="0"/>
              </a:rPr>
              <a:t>Names</a:t>
            </a:r>
          </a:p>
        </p:txBody>
      </p:sp>
      <p:sp>
        <p:nvSpPr>
          <p:cNvPr id="13" name="TextBox 12"/>
          <p:cNvSpPr txBox="1"/>
          <p:nvPr/>
        </p:nvSpPr>
        <p:spPr>
          <a:xfrm>
            <a:off x="868709" y="1468912"/>
            <a:ext cx="2459736" cy="2092881"/>
          </a:xfrm>
          <a:prstGeom prst="rect">
            <a:avLst/>
          </a:prstGeom>
          <a:noFill/>
        </p:spPr>
        <p:txBody>
          <a:bodyPr wrap="square" anchor="t">
            <a:spAutoFit/>
          </a:bodyPr>
          <a:lstStyle/>
          <a:p>
            <a:pPr marL="171450" indent="-171450">
              <a:buFont typeface="Arial" panose="020B0604020202020204" pitchFamily="34" charset="0"/>
              <a:buChar char="•"/>
            </a:pPr>
            <a:r>
              <a:rPr lang="en-US" sz="1300" dirty="0"/>
              <a:t>Raw dataset collected from </a:t>
            </a:r>
            <a:r>
              <a:rPr lang="en-US" sz="1300" dirty="0" err="1"/>
              <a:t>BikeWale</a:t>
            </a:r>
            <a:r>
              <a:rPr lang="en-US" sz="1300" dirty="0"/>
              <a:t>.</a:t>
            </a:r>
          </a:p>
          <a:p>
            <a:pPr marL="171450" indent="-171450">
              <a:buFont typeface="Arial" panose="020B0604020202020204" pitchFamily="34" charset="0"/>
              <a:buChar char="•"/>
            </a:pPr>
            <a:r>
              <a:rPr lang="en-US" sz="1300" dirty="0"/>
              <a:t>65 records in the cleaned dataset.</a:t>
            </a:r>
          </a:p>
          <a:p>
            <a:pPr marL="171450" indent="-171450">
              <a:buFont typeface="Arial" panose="020B0604020202020204" pitchFamily="34" charset="0"/>
              <a:buChar char="•"/>
            </a:pPr>
            <a:r>
              <a:rPr lang="en-US" sz="1300" dirty="0"/>
              <a:t>22 brands represented.</a:t>
            </a:r>
          </a:p>
          <a:p>
            <a:pPr marL="171450" indent="-171450">
              <a:buFont typeface="Arial" panose="020B0604020202020204" pitchFamily="34" charset="0"/>
              <a:buChar char="•"/>
            </a:pPr>
            <a:r>
              <a:rPr lang="en-US" sz="1300" dirty="0"/>
              <a:t>Bike names and source URLs retained for verification.</a:t>
            </a:r>
          </a:p>
          <a:p>
            <a:pPr marL="171450" indent="-171450">
              <a:buFont typeface="Arial" panose="020B0604020202020204" pitchFamily="34" charset="0"/>
              <a:buChar char="•"/>
            </a:pPr>
            <a:r>
              <a:rPr lang="en-US" sz="1300" dirty="0"/>
              <a:t>Suspicious model names flagged for review.</a:t>
            </a:r>
          </a:p>
        </p:txBody>
      </p:sp>
      <p:sp>
        <p:nvSpPr>
          <p:cNvPr id="14" name="Rounded Rectangle 13"/>
          <p:cNvSpPr/>
          <p:nvPr/>
        </p:nvSpPr>
        <p:spPr>
          <a:xfrm>
            <a:off x="3463563" y="1081162"/>
            <a:ext cx="2721864" cy="2579987"/>
          </a:xfrm>
          <a:prstGeom prst="roundRect">
            <a:avLst/>
          </a:prstGeom>
          <a:solidFill>
            <a:srgbClr val="FFFFFF"/>
          </a:solidFill>
          <a:ln w="12700">
            <a:solidFill>
              <a:srgbClr val="DADCE0"/>
            </a:solidFill>
          </a:ln>
          <a:effectLst>
            <a:glow rad="63500">
              <a:schemeClr val="accent4">
                <a:satMod val="175000"/>
                <a:alpha val="40000"/>
              </a:schemeClr>
            </a:glow>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5" name="TextBox 14"/>
          <p:cNvSpPr txBox="1"/>
          <p:nvPr/>
        </p:nvSpPr>
        <p:spPr>
          <a:xfrm>
            <a:off x="3869926" y="1130358"/>
            <a:ext cx="2185416" cy="338554"/>
          </a:xfrm>
          <a:prstGeom prst="rect">
            <a:avLst/>
          </a:prstGeom>
          <a:noFill/>
        </p:spPr>
        <p:txBody>
          <a:bodyPr wrap="square" anchor="t">
            <a:spAutoFit/>
          </a:bodyPr>
          <a:lstStyle/>
          <a:p>
            <a:pPr algn="l">
              <a:defRPr sz="1350" b="1">
                <a:solidFill>
                  <a:srgbClr val="D5242B"/>
                </a:solidFill>
                <a:latin typeface="Aptos"/>
              </a:defRPr>
            </a:pPr>
            <a:r>
              <a:rPr sz="1600" u="sng" dirty="0">
                <a:latin typeface="Arial Black" panose="020B0A04020102020204" pitchFamily="34" charset="0"/>
              </a:rPr>
              <a:t>Missing</a:t>
            </a:r>
            <a:r>
              <a:rPr lang="en-US" sz="1600" u="sng" dirty="0">
                <a:latin typeface="Arial Black" panose="020B0A04020102020204" pitchFamily="34" charset="0"/>
              </a:rPr>
              <a:t> Values</a:t>
            </a:r>
            <a:endParaRPr sz="1600" u="sng" dirty="0">
              <a:latin typeface="Arial Black" panose="020B0A04020102020204" pitchFamily="34" charset="0"/>
            </a:endParaRPr>
          </a:p>
        </p:txBody>
      </p:sp>
      <p:sp>
        <p:nvSpPr>
          <p:cNvPr id="16" name="TextBox 15"/>
          <p:cNvSpPr txBox="1"/>
          <p:nvPr/>
        </p:nvSpPr>
        <p:spPr>
          <a:xfrm>
            <a:off x="3632210" y="1418283"/>
            <a:ext cx="2502404" cy="2308324"/>
          </a:xfrm>
          <a:prstGeom prst="rect">
            <a:avLst/>
          </a:prstGeom>
          <a:noFill/>
        </p:spPr>
        <p:txBody>
          <a:bodyPr wrap="square" anchor="t">
            <a:spAutoFit/>
          </a:bodyPr>
          <a:lstStyle/>
          <a:p>
            <a:pPr marL="171450" indent="-171450">
              <a:buFont typeface="Arial" panose="020B0604020202020204" pitchFamily="34" charset="0"/>
              <a:buChar char="•"/>
            </a:pPr>
            <a:r>
              <a:rPr lang="en-US" sz="1200" dirty="0"/>
              <a:t>Starting Price: No missing values.</a:t>
            </a:r>
          </a:p>
          <a:p>
            <a:pPr marL="171450" indent="-171450">
              <a:buFont typeface="Arial" panose="020B0604020202020204" pitchFamily="34" charset="0"/>
              <a:buChar char="•"/>
            </a:pPr>
            <a:r>
              <a:rPr lang="en-US" sz="1200" dirty="0"/>
              <a:t>Engine Capacity: 14 missing values.</a:t>
            </a:r>
          </a:p>
          <a:p>
            <a:pPr marL="171450" indent="-171450">
              <a:buFont typeface="Arial" panose="020B0604020202020204" pitchFamily="34" charset="0"/>
              <a:buChar char="•"/>
            </a:pPr>
            <a:r>
              <a:rPr lang="en-US" sz="1200" dirty="0"/>
              <a:t>Mileage: 22 missing values.</a:t>
            </a:r>
          </a:p>
          <a:p>
            <a:pPr marL="171450" indent="-171450">
              <a:buFont typeface="Arial" panose="020B0604020202020204" pitchFamily="34" charset="0"/>
              <a:buChar char="•"/>
            </a:pPr>
            <a:r>
              <a:rPr lang="en-US" sz="1200" dirty="0"/>
              <a:t>Maximum Power: 10 missing values.</a:t>
            </a:r>
          </a:p>
          <a:p>
            <a:pPr marL="171450" indent="-171450">
              <a:buFont typeface="Arial" panose="020B0604020202020204" pitchFamily="34" charset="0"/>
              <a:buChar char="•"/>
            </a:pPr>
            <a:r>
              <a:rPr lang="en-US" sz="1200" dirty="0" err="1"/>
              <a:t>Kerb</a:t>
            </a:r>
            <a:r>
              <a:rPr lang="en-US" sz="1200" dirty="0"/>
              <a:t> Weight: 22 missing values.</a:t>
            </a:r>
          </a:p>
          <a:p>
            <a:pPr marL="171450" indent="-171450">
              <a:buFont typeface="Arial" panose="020B0604020202020204" pitchFamily="34" charset="0"/>
              <a:buChar char="•"/>
            </a:pPr>
            <a:r>
              <a:rPr lang="en-US" sz="1200" dirty="0"/>
              <a:t>Missing specifications were not automatically replaced with zero.</a:t>
            </a:r>
          </a:p>
        </p:txBody>
      </p:sp>
      <p:sp>
        <p:nvSpPr>
          <p:cNvPr id="17" name="Rounded Rectangle 16"/>
          <p:cNvSpPr/>
          <p:nvPr/>
        </p:nvSpPr>
        <p:spPr>
          <a:xfrm>
            <a:off x="6274825" y="1092153"/>
            <a:ext cx="2514600" cy="2566941"/>
          </a:xfrm>
          <a:prstGeom prst="roundRect">
            <a:avLst/>
          </a:prstGeom>
          <a:solidFill>
            <a:srgbClr val="FFFFFF"/>
          </a:solidFill>
          <a:ln w="12700">
            <a:solidFill>
              <a:srgbClr val="DADCE0"/>
            </a:solidFill>
          </a:ln>
          <a:effectLst>
            <a:glow rad="63500">
              <a:schemeClr val="accent4">
                <a:satMod val="175000"/>
                <a:alpha val="40000"/>
              </a:schemeClr>
            </a:glow>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481587" y="1172951"/>
            <a:ext cx="2185416" cy="338554"/>
          </a:xfrm>
          <a:prstGeom prst="rect">
            <a:avLst/>
          </a:prstGeom>
          <a:noFill/>
        </p:spPr>
        <p:txBody>
          <a:bodyPr wrap="square" anchor="t">
            <a:spAutoFit/>
          </a:bodyPr>
          <a:lstStyle/>
          <a:p>
            <a:pPr algn="ctr">
              <a:defRPr sz="1350" b="1">
                <a:solidFill>
                  <a:srgbClr val="D5242B"/>
                </a:solidFill>
                <a:latin typeface="Aptos"/>
              </a:defRPr>
            </a:pPr>
            <a:r>
              <a:rPr sz="1600" u="sng" dirty="0">
                <a:latin typeface="Arial Black" panose="020B0A04020102020204" pitchFamily="34" charset="0"/>
              </a:rPr>
              <a:t>Duplicates</a:t>
            </a:r>
          </a:p>
        </p:txBody>
      </p:sp>
      <p:sp>
        <p:nvSpPr>
          <p:cNvPr id="19" name="TextBox 18"/>
          <p:cNvSpPr txBox="1"/>
          <p:nvPr/>
        </p:nvSpPr>
        <p:spPr>
          <a:xfrm>
            <a:off x="6316541" y="1531816"/>
            <a:ext cx="2496312" cy="1261884"/>
          </a:xfrm>
          <a:prstGeom prst="rect">
            <a:avLst/>
          </a:prstGeom>
          <a:noFill/>
        </p:spPr>
        <p:txBody>
          <a:bodyPr wrap="square" anchor="t">
            <a:spAutoFit/>
          </a:bodyPr>
          <a:lstStyle/>
          <a:p>
            <a:pPr marL="285750" indent="-285750">
              <a:buFont typeface="Arial" panose="020B0604020202020204" pitchFamily="34" charset="0"/>
              <a:buChar char="•"/>
            </a:pPr>
            <a:r>
              <a:rPr lang="en-US" sz="1200" dirty="0"/>
              <a:t>Duplicate rows: 0.</a:t>
            </a:r>
          </a:p>
          <a:p>
            <a:pPr marL="285750" indent="-285750">
              <a:buFont typeface="Arial" panose="020B0604020202020204" pitchFamily="34" charset="0"/>
              <a:buChar char="•"/>
            </a:pPr>
            <a:r>
              <a:rPr lang="en-US" sz="1200" dirty="0"/>
              <a:t>Duplicate records were checked in the cleaned dataset.</a:t>
            </a:r>
          </a:p>
          <a:p>
            <a:r>
              <a:rPr lang="en-US" dirty="0"/>
              <a:t>Source URLs were retained to support record verification.</a:t>
            </a:r>
          </a:p>
        </p:txBody>
      </p:sp>
      <p:sp>
        <p:nvSpPr>
          <p:cNvPr id="20" name="Rounded Rectangle 19"/>
          <p:cNvSpPr/>
          <p:nvPr/>
        </p:nvSpPr>
        <p:spPr>
          <a:xfrm>
            <a:off x="8912350" y="1092153"/>
            <a:ext cx="2514600" cy="2579987"/>
          </a:xfrm>
          <a:prstGeom prst="roundRect">
            <a:avLst/>
          </a:prstGeom>
          <a:solidFill>
            <a:srgbClr val="FFFFFF"/>
          </a:solidFill>
          <a:ln w="12700">
            <a:solidFill>
              <a:srgbClr val="DADCE0"/>
            </a:solidFill>
          </a:ln>
          <a:effectLst>
            <a:glow rad="63500">
              <a:schemeClr val="accent4">
                <a:satMod val="175000"/>
                <a:alpha val="40000"/>
              </a:schemeClr>
            </a:glow>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9068605" y="1143587"/>
            <a:ext cx="2185416" cy="338554"/>
          </a:xfrm>
          <a:prstGeom prst="rect">
            <a:avLst/>
          </a:prstGeom>
          <a:noFill/>
        </p:spPr>
        <p:txBody>
          <a:bodyPr wrap="square" anchor="t">
            <a:spAutoFit/>
          </a:bodyPr>
          <a:lstStyle/>
          <a:p>
            <a:pPr algn="ctr">
              <a:defRPr sz="1350" b="1">
                <a:solidFill>
                  <a:srgbClr val="D5242B"/>
                </a:solidFill>
                <a:latin typeface="Aptos"/>
              </a:defRPr>
            </a:pPr>
            <a:r>
              <a:rPr sz="1600" u="sng" dirty="0">
                <a:latin typeface="Arial Black" panose="020B0A04020102020204" pitchFamily="34" charset="0"/>
              </a:rPr>
              <a:t>Outliers</a:t>
            </a:r>
          </a:p>
        </p:txBody>
      </p:sp>
      <p:sp>
        <p:nvSpPr>
          <p:cNvPr id="22" name="TextBox 21"/>
          <p:cNvSpPr txBox="1"/>
          <p:nvPr/>
        </p:nvSpPr>
        <p:spPr>
          <a:xfrm>
            <a:off x="8912350" y="1487472"/>
            <a:ext cx="2545079" cy="1938992"/>
          </a:xfrm>
          <a:prstGeom prst="rect">
            <a:avLst/>
          </a:prstGeom>
          <a:noFill/>
        </p:spPr>
        <p:txBody>
          <a:bodyPr wrap="square" anchor="t">
            <a:spAutoFit/>
          </a:bodyPr>
          <a:lstStyle/>
          <a:p>
            <a:pPr marL="171450" indent="-171450">
              <a:buFont typeface="Arial" panose="020B0604020202020204" pitchFamily="34" charset="0"/>
              <a:buChar char="•"/>
            </a:pPr>
            <a:r>
              <a:rPr lang="en-US" sz="1200" dirty="0"/>
              <a:t>Method: Interquartile Range (IQR).</a:t>
            </a:r>
          </a:p>
          <a:p>
            <a:pPr marL="171450" indent="-171450">
              <a:buFont typeface="Arial" panose="020B0604020202020204" pitchFamily="34" charset="0"/>
              <a:buChar char="•"/>
            </a:pPr>
            <a:r>
              <a:rPr lang="en-US" sz="1200" dirty="0"/>
              <a:t>Price outliers were examined separately.</a:t>
            </a:r>
          </a:p>
          <a:p>
            <a:pPr marL="171450" indent="-171450">
              <a:buFont typeface="Arial" panose="020B0604020202020204" pitchFamily="34" charset="0"/>
              <a:buChar char="•"/>
            </a:pPr>
            <a:r>
              <a:rPr lang="en-US" sz="1200" dirty="0"/>
              <a:t>High prices may represent premium bikes rather than errors.</a:t>
            </a:r>
          </a:p>
          <a:p>
            <a:pPr marL="171450" indent="-171450">
              <a:buFont typeface="Arial" panose="020B0604020202020204" pitchFamily="34" charset="0"/>
              <a:buChar char="•"/>
            </a:pPr>
            <a:r>
              <a:rPr lang="en-US" sz="1200" dirty="0"/>
              <a:t>Suspicious specifications require source verification before final analysis.</a:t>
            </a:r>
          </a:p>
        </p:txBody>
      </p:sp>
      <p:sp>
        <p:nvSpPr>
          <p:cNvPr id="23" name="Rounded Rectangle 22"/>
          <p:cNvSpPr/>
          <p:nvPr/>
        </p:nvSpPr>
        <p:spPr>
          <a:xfrm>
            <a:off x="640078" y="3763625"/>
            <a:ext cx="5120640" cy="2434953"/>
          </a:xfrm>
          <a:prstGeom prst="roundRect">
            <a:avLst/>
          </a:prstGeom>
          <a:solidFill>
            <a:srgbClr val="FFFFFF"/>
          </a:solidFill>
          <a:ln w="12700">
            <a:solidFill>
              <a:srgbClr val="DADCE0"/>
            </a:solidFill>
          </a:ln>
          <a:effectLst>
            <a:glow rad="63500">
              <a:schemeClr val="accent4">
                <a:satMod val="175000"/>
                <a:alpha val="40000"/>
              </a:schemeClr>
            </a:glow>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24" name="TextBox 23"/>
          <p:cNvSpPr txBox="1"/>
          <p:nvPr/>
        </p:nvSpPr>
        <p:spPr>
          <a:xfrm>
            <a:off x="749810" y="3936109"/>
            <a:ext cx="4791455" cy="400110"/>
          </a:xfrm>
          <a:prstGeom prst="rect">
            <a:avLst/>
          </a:prstGeom>
          <a:noFill/>
        </p:spPr>
        <p:txBody>
          <a:bodyPr wrap="square" anchor="t">
            <a:spAutoFit/>
          </a:bodyPr>
          <a:lstStyle/>
          <a:p>
            <a:pPr algn="l">
              <a:defRPr sz="1350" b="1">
                <a:solidFill>
                  <a:srgbClr val="D5242B"/>
                </a:solidFill>
                <a:latin typeface="Aptos"/>
              </a:defRPr>
            </a:pPr>
            <a:r>
              <a:rPr lang="en-IN" sz="2000" u="sng" dirty="0"/>
              <a:t>Sample Composition</a:t>
            </a:r>
            <a:endParaRPr sz="1600" u="sng" dirty="0">
              <a:latin typeface="Arial Black" panose="020B0A04020102020204" pitchFamily="34" charset="0"/>
            </a:endParaRPr>
          </a:p>
        </p:txBody>
      </p:sp>
      <p:sp>
        <p:nvSpPr>
          <p:cNvPr id="25" name="TextBox 24"/>
          <p:cNvSpPr txBox="1"/>
          <p:nvPr/>
        </p:nvSpPr>
        <p:spPr>
          <a:xfrm>
            <a:off x="804670" y="4322177"/>
            <a:ext cx="4791455" cy="1600438"/>
          </a:xfrm>
          <a:prstGeom prst="rect">
            <a:avLst/>
          </a:prstGeom>
          <a:noFill/>
        </p:spPr>
        <p:txBody>
          <a:bodyPr wrap="square" anchor="t">
            <a:spAutoFit/>
          </a:bodyPr>
          <a:lstStyle/>
          <a:p>
            <a:r>
              <a:rPr lang="en-IN" b="1" u="sng" dirty="0"/>
              <a:t>Brand Distribution</a:t>
            </a:r>
            <a:endParaRPr lang="en-IN" u="sng" dirty="0"/>
          </a:p>
          <a:p>
            <a:endParaRPr lang="en-IN" dirty="0"/>
          </a:p>
          <a:p>
            <a:pPr marL="285750" indent="-285750">
              <a:buFont typeface="Arial" panose="020B0604020202020204" pitchFamily="34" charset="0"/>
              <a:buChar char="•"/>
            </a:pPr>
            <a:r>
              <a:rPr lang="en-US" dirty="0"/>
              <a:t>22 brands represented.</a:t>
            </a:r>
          </a:p>
          <a:p>
            <a:pPr marL="285750" indent="-285750">
              <a:buFont typeface="Arial" panose="020B0604020202020204" pitchFamily="34" charset="0"/>
              <a:buChar char="•"/>
            </a:pPr>
            <a:r>
              <a:rPr lang="en-US" dirty="0"/>
              <a:t>65 bike records in total.</a:t>
            </a:r>
          </a:p>
          <a:p>
            <a:pPr marL="285750" indent="-285750">
              <a:buFont typeface="Arial" panose="020B0604020202020204" pitchFamily="34" charset="0"/>
              <a:buChar char="•"/>
            </a:pPr>
            <a:r>
              <a:rPr lang="en-US" dirty="0"/>
              <a:t>Includes electric and petrol/other bikes.</a:t>
            </a:r>
          </a:p>
          <a:p>
            <a:pPr marL="285750" indent="-285750">
              <a:buFont typeface="Arial" panose="020B0604020202020204" pitchFamily="34" charset="0"/>
              <a:buChar char="•"/>
            </a:pPr>
            <a:r>
              <a:rPr lang="en-US" dirty="0"/>
              <a:t>Brand counts describe this scraped sample, not the entire Indian market</a:t>
            </a:r>
          </a:p>
        </p:txBody>
      </p:sp>
      <p:sp>
        <p:nvSpPr>
          <p:cNvPr id="26" name="Rounded Rectangle 25"/>
          <p:cNvSpPr/>
          <p:nvPr/>
        </p:nvSpPr>
        <p:spPr>
          <a:xfrm>
            <a:off x="6035039" y="3763625"/>
            <a:ext cx="5212080" cy="2434952"/>
          </a:xfrm>
          <a:prstGeom prst="roundRect">
            <a:avLst/>
          </a:prstGeom>
          <a:solidFill>
            <a:srgbClr val="FFFFFF"/>
          </a:solidFill>
          <a:ln w="12700">
            <a:solidFill>
              <a:srgbClr val="DADCE0"/>
            </a:solidFill>
          </a:ln>
          <a:effectLst>
            <a:glow rad="63500">
              <a:schemeClr val="accent4">
                <a:satMod val="175000"/>
                <a:alpha val="40000"/>
              </a:schemeClr>
            </a:glow>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163054" y="3862982"/>
            <a:ext cx="4882896" cy="338554"/>
          </a:xfrm>
          <a:prstGeom prst="rect">
            <a:avLst/>
          </a:prstGeom>
          <a:noFill/>
        </p:spPr>
        <p:txBody>
          <a:bodyPr wrap="square" anchor="t">
            <a:spAutoFit/>
          </a:bodyPr>
          <a:lstStyle/>
          <a:p>
            <a:pPr algn="l">
              <a:defRPr sz="1350" b="1">
                <a:solidFill>
                  <a:srgbClr val="D5242B"/>
                </a:solidFill>
                <a:latin typeface="Aptos"/>
              </a:defRPr>
            </a:pPr>
            <a:r>
              <a:rPr sz="1600" u="sng" dirty="0">
                <a:latin typeface="Arial Black" panose="020B0A04020102020204" pitchFamily="34" charset="0"/>
              </a:rPr>
              <a:t>Final Verification</a:t>
            </a:r>
          </a:p>
        </p:txBody>
      </p:sp>
      <p:sp>
        <p:nvSpPr>
          <p:cNvPr id="28" name="TextBox 27"/>
          <p:cNvSpPr txBox="1"/>
          <p:nvPr/>
        </p:nvSpPr>
        <p:spPr>
          <a:xfrm>
            <a:off x="6199630" y="4178808"/>
            <a:ext cx="5047489" cy="1323439"/>
          </a:xfrm>
          <a:prstGeom prst="rect">
            <a:avLst/>
          </a:prstGeom>
          <a:noFill/>
        </p:spPr>
        <p:txBody>
          <a:bodyPr wrap="square" anchor="t">
            <a:spAutoFit/>
          </a:bodyPr>
          <a:lstStyle/>
          <a:p>
            <a:pPr marL="285750" indent="-285750">
              <a:buFont typeface="Arial" panose="020B0604020202020204" pitchFamily="34" charset="0"/>
              <a:buChar char="•"/>
            </a:pPr>
            <a:r>
              <a:rPr lang="en-US" sz="1600" dirty="0"/>
              <a:t>Cleaned dataset: 65 rows × 14 columns.</a:t>
            </a:r>
          </a:p>
          <a:p>
            <a:pPr marL="285750" indent="-285750">
              <a:buFont typeface="Arial" panose="020B0604020202020204" pitchFamily="34" charset="0"/>
              <a:buChar char="•"/>
            </a:pPr>
            <a:r>
              <a:rPr lang="en-US" sz="1600" dirty="0"/>
              <a:t>Missing specifications retained where unavailable.</a:t>
            </a:r>
          </a:p>
          <a:p>
            <a:pPr marL="285750" indent="-285750">
              <a:buFont typeface="Arial" panose="020B0604020202020204" pitchFamily="34" charset="0"/>
              <a:buChar char="•"/>
            </a:pPr>
            <a:r>
              <a:rPr lang="en-US" sz="1600" dirty="0"/>
              <a:t>Suspected extraction errors flagged for review.</a:t>
            </a:r>
          </a:p>
          <a:p>
            <a:pPr marL="285750" indent="-285750">
              <a:buFont typeface="Arial" panose="020B0604020202020204" pitchFamily="34" charset="0"/>
              <a:buChar char="•"/>
            </a:pPr>
            <a:r>
              <a:rPr lang="en-US" sz="1600" dirty="0"/>
              <a:t>Dataset prepared for exploratory data analysis (EDA).</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clean_content_bg15.png"/>
          <p:cNvPicPr>
            <a:picLocks noChangeAspect="1"/>
          </p:cNvPicPr>
          <p:nvPr/>
        </p:nvPicPr>
        <p:blipFill>
          <a:blip r:embed="rId3"/>
          <a:stretch>
            <a:fillRect/>
          </a:stretch>
        </p:blipFill>
        <p:spPr>
          <a:xfrm>
            <a:off x="-38100" y="-256033"/>
            <a:ext cx="12230100" cy="6459731"/>
          </a:xfrm>
          <a:prstGeom prst="rect">
            <a:avLst/>
          </a:prstGeom>
        </p:spPr>
      </p:pic>
      <p:sp>
        <p:nvSpPr>
          <p:cNvPr id="8" name="TextBox 7"/>
          <p:cNvSpPr txBox="1"/>
          <p:nvPr/>
        </p:nvSpPr>
        <p:spPr>
          <a:xfrm>
            <a:off x="1767842" y="54864"/>
            <a:ext cx="9509760" cy="446276"/>
          </a:xfrm>
          <a:prstGeom prst="rect">
            <a:avLst/>
          </a:prstGeom>
          <a:noFill/>
        </p:spPr>
        <p:txBody>
          <a:bodyPr wrap="square" anchor="t">
            <a:spAutoFit/>
          </a:bodyPr>
          <a:lstStyle/>
          <a:p>
            <a:pPr algn="l">
              <a:defRPr sz="2300" b="1">
                <a:solidFill>
                  <a:srgbClr val="D5242B"/>
                </a:solidFill>
                <a:latin typeface="Aptos"/>
              </a:defRPr>
            </a:pPr>
            <a:r>
              <a:rPr dirty="0">
                <a:effectLst>
                  <a:outerShdw blurRad="38100" dist="38100" dir="2700000" algn="tl">
                    <a:srgbClr val="000000">
                      <a:alpha val="43137"/>
                    </a:srgbClr>
                  </a:outerShdw>
                </a:effectLst>
                <a:latin typeface="Arial Black" panose="020B0A04020102020204" pitchFamily="34" charset="0"/>
              </a:rPr>
              <a:t>Univariate Analysis</a:t>
            </a:r>
          </a:p>
        </p:txBody>
      </p:sp>
      <p:sp>
        <p:nvSpPr>
          <p:cNvPr id="9" name="Rectangle 8"/>
          <p:cNvSpPr/>
          <p:nvPr/>
        </p:nvSpPr>
        <p:spPr>
          <a:xfrm>
            <a:off x="1493522" y="518922"/>
            <a:ext cx="10058400" cy="22860"/>
          </a:xfrm>
          <a:prstGeom prst="rect">
            <a:avLst/>
          </a:prstGeom>
          <a:solidFill>
            <a:srgbClr val="DADC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11677" y="1414654"/>
            <a:ext cx="3063240" cy="338554"/>
          </a:xfrm>
          <a:prstGeom prst="rect">
            <a:avLst/>
          </a:prstGeom>
          <a:noFill/>
        </p:spPr>
        <p:txBody>
          <a:bodyPr wrap="square" anchor="t">
            <a:spAutoFit/>
          </a:bodyPr>
          <a:lstStyle/>
          <a:p>
            <a:pPr algn="ctr">
              <a:defRPr sz="1300" b="1">
                <a:solidFill>
                  <a:srgbClr val="262626"/>
                </a:solidFill>
                <a:latin typeface="Aptos"/>
              </a:defRPr>
            </a:pPr>
            <a:r>
              <a:rPr sz="1600" dirty="0">
                <a:solidFill>
                  <a:schemeClr val="accent2"/>
                </a:solidFill>
                <a:latin typeface="Arial Black" panose="020B0A04020102020204" pitchFamily="34" charset="0"/>
              </a:rPr>
              <a:t>Price distribution</a:t>
            </a:r>
          </a:p>
        </p:txBody>
      </p:sp>
      <p:sp>
        <p:nvSpPr>
          <p:cNvPr id="15" name="TextBox 14"/>
          <p:cNvSpPr txBox="1"/>
          <p:nvPr/>
        </p:nvSpPr>
        <p:spPr>
          <a:xfrm>
            <a:off x="4545330" y="1414654"/>
            <a:ext cx="3063240" cy="338554"/>
          </a:xfrm>
          <a:prstGeom prst="rect">
            <a:avLst/>
          </a:prstGeom>
          <a:noFill/>
        </p:spPr>
        <p:txBody>
          <a:bodyPr wrap="square" anchor="t">
            <a:spAutoFit/>
          </a:bodyPr>
          <a:lstStyle/>
          <a:p>
            <a:pPr algn="ctr">
              <a:defRPr sz="1300" b="1">
                <a:solidFill>
                  <a:srgbClr val="262626"/>
                </a:solidFill>
                <a:latin typeface="Aptos"/>
              </a:defRPr>
            </a:pPr>
            <a:r>
              <a:rPr lang="en-IN" sz="1600" dirty="0">
                <a:solidFill>
                  <a:schemeClr val="accent2"/>
                </a:solidFill>
                <a:latin typeface="Arial Black" panose="020B0A04020102020204" pitchFamily="34" charset="0"/>
              </a:rPr>
              <a:t>15 Lowest-Priced Bikes</a:t>
            </a:r>
          </a:p>
        </p:txBody>
      </p:sp>
      <p:sp>
        <p:nvSpPr>
          <p:cNvPr id="16" name="TextBox 15"/>
          <p:cNvSpPr txBox="1"/>
          <p:nvPr/>
        </p:nvSpPr>
        <p:spPr>
          <a:xfrm>
            <a:off x="8528349" y="1444494"/>
            <a:ext cx="3127084" cy="338554"/>
          </a:xfrm>
          <a:prstGeom prst="rect">
            <a:avLst/>
          </a:prstGeom>
          <a:noFill/>
        </p:spPr>
        <p:txBody>
          <a:bodyPr wrap="square" anchor="t">
            <a:spAutoFit/>
          </a:bodyPr>
          <a:lstStyle/>
          <a:p>
            <a:pPr algn="ctr">
              <a:defRPr sz="1300" b="1">
                <a:solidFill>
                  <a:srgbClr val="262626"/>
                </a:solidFill>
                <a:latin typeface="Aptos"/>
              </a:defRPr>
            </a:pPr>
            <a:r>
              <a:rPr lang="en-IN" sz="1600" dirty="0">
                <a:solidFill>
                  <a:schemeClr val="accent2"/>
                </a:solidFill>
                <a:latin typeface="Arial Black" panose="020B0A04020102020204" pitchFamily="34" charset="0"/>
              </a:rPr>
              <a:t>Bike Records by Brand</a:t>
            </a:r>
            <a:endParaRPr sz="1600" dirty="0">
              <a:solidFill>
                <a:schemeClr val="accent2"/>
              </a:solidFill>
              <a:latin typeface="Arial Black" panose="020B0A04020102020204" pitchFamily="34" charset="0"/>
            </a:endParaRPr>
          </a:p>
        </p:txBody>
      </p:sp>
      <p:sp>
        <p:nvSpPr>
          <p:cNvPr id="19" name="TextBox 18"/>
          <p:cNvSpPr txBox="1"/>
          <p:nvPr/>
        </p:nvSpPr>
        <p:spPr>
          <a:xfrm>
            <a:off x="512652" y="5559831"/>
            <a:ext cx="9097340" cy="1077218"/>
          </a:xfrm>
          <a:prstGeom prst="rect">
            <a:avLst/>
          </a:prstGeom>
          <a:noFill/>
        </p:spPr>
        <p:txBody>
          <a:bodyPr wrap="square" anchor="t">
            <a:spAutoFit/>
          </a:bodyPr>
          <a:lstStyle/>
          <a:p>
            <a:pPr algn="just">
              <a:buFont typeface="Arial" panose="020B0604020202020204" pitchFamily="34" charset="0"/>
              <a:buChar char="•"/>
            </a:pPr>
            <a:r>
              <a:rPr lang="en-US" sz="1600" dirty="0"/>
              <a:t>Bike prices are right-skewed, with a small number of high-priced models.</a:t>
            </a:r>
          </a:p>
          <a:p>
            <a:pPr algn="just">
              <a:buFont typeface="Arial" panose="020B0604020202020204" pitchFamily="34" charset="0"/>
              <a:buChar char="•"/>
            </a:pPr>
            <a:r>
              <a:rPr lang="en-US" sz="1600" dirty="0"/>
              <a:t>The lowest-priced models highlight budget-friendly options in the sample.</a:t>
            </a:r>
          </a:p>
          <a:p>
            <a:pPr algn="just">
              <a:buFont typeface="Arial" panose="020B0604020202020204" pitchFamily="34" charset="0"/>
              <a:buChar char="•"/>
            </a:pPr>
            <a:r>
              <a:rPr lang="en-US" sz="1600" dirty="0"/>
              <a:t>TVS has the highest representation, with 11 records.</a:t>
            </a:r>
          </a:p>
          <a:p>
            <a:pPr algn="just">
              <a:buFont typeface="Arial" panose="020B0604020202020204" pitchFamily="34" charset="0"/>
              <a:buChar char="•"/>
            </a:pPr>
            <a:r>
              <a:rPr lang="en-US" sz="1600" dirty="0"/>
              <a:t>Brand counts represent the scraped sample, not the entire Indian motorcycle market.</a:t>
            </a:r>
          </a:p>
        </p:txBody>
      </p:sp>
      <p:sp>
        <p:nvSpPr>
          <p:cNvPr id="21" name="TextBox 20"/>
          <p:cNvSpPr txBox="1"/>
          <p:nvPr/>
        </p:nvSpPr>
        <p:spPr>
          <a:xfrm>
            <a:off x="512652" y="5221277"/>
            <a:ext cx="2734056" cy="338554"/>
          </a:xfrm>
          <a:prstGeom prst="rect">
            <a:avLst/>
          </a:prstGeom>
          <a:noFill/>
        </p:spPr>
        <p:txBody>
          <a:bodyPr wrap="square" anchor="t">
            <a:spAutoFit/>
          </a:bodyPr>
          <a:lstStyle/>
          <a:p>
            <a:pPr algn="l">
              <a:defRPr sz="1350" b="1">
                <a:solidFill>
                  <a:srgbClr val="D5242B"/>
                </a:solidFill>
                <a:latin typeface="Aptos"/>
              </a:defRPr>
            </a:pPr>
            <a:r>
              <a:rPr sz="1600" dirty="0">
                <a:latin typeface="Arial Black" panose="020B0A04020102020204" pitchFamily="34" charset="0"/>
              </a:rPr>
              <a:t>Key observation</a:t>
            </a:r>
          </a:p>
        </p:txBody>
      </p:sp>
      <p:pic>
        <p:nvPicPr>
          <p:cNvPr id="17" name="Picture 16" descr="image(7).png">
            <a:extLst>
              <a:ext uri="{FF2B5EF4-FFF2-40B4-BE49-F238E27FC236}">
                <a16:creationId xmlns:a16="http://schemas.microsoft.com/office/drawing/2014/main" id="{DCA1CB4B-83C3-46FC-8365-F1B32C7B6AF8}"/>
              </a:ext>
            </a:extLst>
          </p:cNvPr>
          <p:cNvPicPr>
            <a:picLocks noChangeAspect="1"/>
          </p:cNvPicPr>
          <p:nvPr/>
        </p:nvPicPr>
        <p:blipFill>
          <a:blip r:embed="rId4"/>
          <a:stretch>
            <a:fillRect/>
          </a:stretch>
        </p:blipFill>
        <p:spPr>
          <a:xfrm>
            <a:off x="465859" y="1922485"/>
            <a:ext cx="3587981" cy="2854619"/>
          </a:xfrm>
          <a:prstGeom prst="rect">
            <a:avLst/>
          </a:prstGeom>
        </p:spPr>
      </p:pic>
      <p:pic>
        <p:nvPicPr>
          <p:cNvPr id="1026" name="Picture 2" descr="User attachment">
            <a:extLst>
              <a:ext uri="{FF2B5EF4-FFF2-40B4-BE49-F238E27FC236}">
                <a16:creationId xmlns:a16="http://schemas.microsoft.com/office/drawing/2014/main" id="{BD64BEF1-99ED-4471-B4EC-20E8A9DD67F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194719" y="2091762"/>
            <a:ext cx="4057184" cy="2565454"/>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User attachment">
            <a:extLst>
              <a:ext uri="{FF2B5EF4-FFF2-40B4-BE49-F238E27FC236}">
                <a16:creationId xmlns:a16="http://schemas.microsoft.com/office/drawing/2014/main" id="{EA19712F-290B-452A-8B0C-FBE76C530B1B}"/>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392782" y="1922485"/>
            <a:ext cx="3672838" cy="298839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AC8B58-9978-4B44-9149-DE0115EC77D5}"/>
            </a:ext>
          </a:extLst>
        </p:cNvPr>
        <p:cNvGrpSpPr/>
        <p:nvPr/>
      </p:nvGrpSpPr>
      <p:grpSpPr>
        <a:xfrm>
          <a:off x="0" y="0"/>
          <a:ext cx="0" cy="0"/>
          <a:chOff x="0" y="0"/>
          <a:chExt cx="0" cy="0"/>
        </a:xfrm>
      </p:grpSpPr>
      <p:pic>
        <p:nvPicPr>
          <p:cNvPr id="7" name="Picture 6" descr="clean_content_bg15.png">
            <a:extLst>
              <a:ext uri="{FF2B5EF4-FFF2-40B4-BE49-F238E27FC236}">
                <a16:creationId xmlns:a16="http://schemas.microsoft.com/office/drawing/2014/main" id="{4D65F2DB-42E0-31AA-AD6B-EBF6EFF41E65}"/>
              </a:ext>
            </a:extLst>
          </p:cNvPr>
          <p:cNvPicPr>
            <a:picLocks noChangeAspect="1"/>
          </p:cNvPicPr>
          <p:nvPr/>
        </p:nvPicPr>
        <p:blipFill>
          <a:blip r:embed="rId3"/>
          <a:stretch>
            <a:fillRect/>
          </a:stretch>
        </p:blipFill>
        <p:spPr>
          <a:xfrm>
            <a:off x="-38100" y="-256033"/>
            <a:ext cx="12230100" cy="6459731"/>
          </a:xfrm>
          <a:prstGeom prst="rect">
            <a:avLst/>
          </a:prstGeom>
        </p:spPr>
      </p:pic>
      <p:sp>
        <p:nvSpPr>
          <p:cNvPr id="8" name="TextBox 7">
            <a:extLst>
              <a:ext uri="{FF2B5EF4-FFF2-40B4-BE49-F238E27FC236}">
                <a16:creationId xmlns:a16="http://schemas.microsoft.com/office/drawing/2014/main" id="{181E7FA2-0832-99C9-A92D-BB4A27B9B697}"/>
              </a:ext>
            </a:extLst>
          </p:cNvPr>
          <p:cNvSpPr txBox="1"/>
          <p:nvPr/>
        </p:nvSpPr>
        <p:spPr>
          <a:xfrm>
            <a:off x="1767842" y="54864"/>
            <a:ext cx="9509760" cy="446276"/>
          </a:xfrm>
          <a:prstGeom prst="rect">
            <a:avLst/>
          </a:prstGeom>
          <a:noFill/>
        </p:spPr>
        <p:txBody>
          <a:bodyPr wrap="square" anchor="t">
            <a:spAutoFit/>
          </a:bodyPr>
          <a:lstStyle/>
          <a:p>
            <a:pPr algn="l">
              <a:defRPr sz="2300" b="1">
                <a:solidFill>
                  <a:srgbClr val="D5242B"/>
                </a:solidFill>
                <a:latin typeface="Aptos"/>
              </a:defRPr>
            </a:pPr>
            <a:r>
              <a:rPr dirty="0">
                <a:effectLst>
                  <a:outerShdw blurRad="38100" dist="38100" dir="2700000" algn="tl">
                    <a:srgbClr val="000000">
                      <a:alpha val="43137"/>
                    </a:srgbClr>
                  </a:outerShdw>
                </a:effectLst>
                <a:latin typeface="Arial Black" panose="020B0A04020102020204" pitchFamily="34" charset="0"/>
              </a:rPr>
              <a:t>Univariate Analysis</a:t>
            </a:r>
          </a:p>
        </p:txBody>
      </p:sp>
      <p:sp>
        <p:nvSpPr>
          <p:cNvPr id="9" name="Rectangle 8">
            <a:extLst>
              <a:ext uri="{FF2B5EF4-FFF2-40B4-BE49-F238E27FC236}">
                <a16:creationId xmlns:a16="http://schemas.microsoft.com/office/drawing/2014/main" id="{E66D3968-F8C8-D183-4E8E-558C4938EECF}"/>
              </a:ext>
            </a:extLst>
          </p:cNvPr>
          <p:cNvSpPr/>
          <p:nvPr/>
        </p:nvSpPr>
        <p:spPr>
          <a:xfrm>
            <a:off x="1493522" y="518922"/>
            <a:ext cx="10058400" cy="22860"/>
          </a:xfrm>
          <a:prstGeom prst="rect">
            <a:avLst/>
          </a:prstGeom>
          <a:solidFill>
            <a:srgbClr val="DADC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a:extLst>
              <a:ext uri="{FF2B5EF4-FFF2-40B4-BE49-F238E27FC236}">
                <a16:creationId xmlns:a16="http://schemas.microsoft.com/office/drawing/2014/main" id="{A82F3FA1-154E-5D9D-3A34-6FE285BBD8D8}"/>
              </a:ext>
            </a:extLst>
          </p:cNvPr>
          <p:cNvSpPr txBox="1"/>
          <p:nvPr/>
        </p:nvSpPr>
        <p:spPr>
          <a:xfrm>
            <a:off x="879231" y="647401"/>
            <a:ext cx="7666891" cy="338554"/>
          </a:xfrm>
          <a:prstGeom prst="rect">
            <a:avLst/>
          </a:prstGeom>
          <a:noFill/>
        </p:spPr>
        <p:txBody>
          <a:bodyPr wrap="square" anchor="t">
            <a:spAutoFit/>
          </a:bodyPr>
          <a:lstStyle/>
          <a:p>
            <a:pPr algn="ctr">
              <a:defRPr sz="1300" b="1">
                <a:solidFill>
                  <a:srgbClr val="262626"/>
                </a:solidFill>
                <a:latin typeface="Aptos"/>
              </a:defRPr>
            </a:pPr>
            <a:r>
              <a:rPr lang="en-US" sz="1600" dirty="0">
                <a:solidFill>
                  <a:schemeClr val="accent2"/>
                </a:solidFill>
                <a:latin typeface="Arial Black" panose="020B0A04020102020204" pitchFamily="34" charset="0"/>
              </a:rPr>
              <a:t>Distribution of Mileage &amp; Engine Capacity</a:t>
            </a:r>
          </a:p>
        </p:txBody>
      </p:sp>
      <p:sp>
        <p:nvSpPr>
          <p:cNvPr id="19" name="TextBox 18">
            <a:extLst>
              <a:ext uri="{FF2B5EF4-FFF2-40B4-BE49-F238E27FC236}">
                <a16:creationId xmlns:a16="http://schemas.microsoft.com/office/drawing/2014/main" id="{0A501D4F-B203-0D6B-E9EB-0351C561E517}"/>
              </a:ext>
            </a:extLst>
          </p:cNvPr>
          <p:cNvSpPr txBox="1"/>
          <p:nvPr/>
        </p:nvSpPr>
        <p:spPr>
          <a:xfrm>
            <a:off x="400814" y="4964897"/>
            <a:ext cx="9097340" cy="1169551"/>
          </a:xfrm>
          <a:prstGeom prst="rect">
            <a:avLst/>
          </a:prstGeom>
          <a:noFill/>
        </p:spPr>
        <p:txBody>
          <a:bodyPr wrap="square" anchor="t">
            <a:spAutoFit/>
          </a:bodyPr>
          <a:lstStyle/>
          <a:p>
            <a:pPr marL="285750" indent="-285750">
              <a:buFont typeface="Arial" panose="020B0604020202020204" pitchFamily="34" charset="0"/>
              <a:buChar char="•"/>
            </a:pPr>
            <a:r>
              <a:rPr lang="en-US" dirty="0"/>
              <a:t>Mileage varies across the sampled petrol/other bikes, with recorded values ranging from 22 to 75 km/l.</a:t>
            </a:r>
          </a:p>
          <a:p>
            <a:pPr marL="285750" indent="-285750">
              <a:buFont typeface="Arial" panose="020B0604020202020204" pitchFamily="34" charset="0"/>
              <a:buChar char="•"/>
            </a:pPr>
            <a:r>
              <a:rPr lang="en-US" dirty="0"/>
              <a:t>Engine capacity ranges from 97.2 cc to 1,300 cc in the available records.</a:t>
            </a:r>
          </a:p>
          <a:p>
            <a:pPr marL="285750" indent="-285750">
              <a:buFont typeface="Arial" panose="020B0604020202020204" pitchFamily="34" charset="0"/>
              <a:buChar char="•"/>
            </a:pPr>
            <a:r>
              <a:rPr lang="en-US" dirty="0"/>
              <a:t>The distributions show variation between smaller commuter bikes and higher-capacity motorcycles.</a:t>
            </a:r>
          </a:p>
          <a:p>
            <a:pPr marL="285750" indent="-285750">
              <a:buFont typeface="Arial" panose="020B0604020202020204" pitchFamily="34" charset="0"/>
              <a:buChar char="•"/>
            </a:pPr>
            <a:r>
              <a:rPr lang="en-US" dirty="0"/>
              <a:t>Electric bikes were excluded because engine capacity and petrol mileage are not directly applicable.</a:t>
            </a:r>
          </a:p>
          <a:p>
            <a:pPr marL="285750" indent="-285750">
              <a:buFont typeface="Arial" panose="020B0604020202020204" pitchFamily="34" charset="0"/>
              <a:buChar char="•"/>
            </a:pPr>
            <a:r>
              <a:rPr lang="en-US" dirty="0"/>
              <a:t>Missing values were excluded from the respective histograms.</a:t>
            </a:r>
          </a:p>
        </p:txBody>
      </p:sp>
      <p:sp>
        <p:nvSpPr>
          <p:cNvPr id="21" name="TextBox 20">
            <a:extLst>
              <a:ext uri="{FF2B5EF4-FFF2-40B4-BE49-F238E27FC236}">
                <a16:creationId xmlns:a16="http://schemas.microsoft.com/office/drawing/2014/main" id="{B7CF4E00-A589-06BE-74DD-62FC7D5F7FCD}"/>
              </a:ext>
            </a:extLst>
          </p:cNvPr>
          <p:cNvSpPr txBox="1"/>
          <p:nvPr/>
        </p:nvSpPr>
        <p:spPr>
          <a:xfrm>
            <a:off x="400814" y="4626343"/>
            <a:ext cx="2734056" cy="338554"/>
          </a:xfrm>
          <a:prstGeom prst="rect">
            <a:avLst/>
          </a:prstGeom>
          <a:noFill/>
        </p:spPr>
        <p:txBody>
          <a:bodyPr wrap="square" anchor="t">
            <a:spAutoFit/>
          </a:bodyPr>
          <a:lstStyle/>
          <a:p>
            <a:pPr algn="l">
              <a:defRPr sz="1350" b="1">
                <a:solidFill>
                  <a:srgbClr val="D5242B"/>
                </a:solidFill>
                <a:latin typeface="Aptos"/>
              </a:defRPr>
            </a:pPr>
            <a:r>
              <a:rPr sz="1600" dirty="0">
                <a:latin typeface="Arial Black" panose="020B0A04020102020204" pitchFamily="34" charset="0"/>
              </a:rPr>
              <a:t>Key observation</a:t>
            </a:r>
          </a:p>
        </p:txBody>
      </p:sp>
      <p:pic>
        <p:nvPicPr>
          <p:cNvPr id="3" name="Picture 2" descr="A graph with blue squares&#10;&#10;Description automatically generated">
            <a:extLst>
              <a:ext uri="{FF2B5EF4-FFF2-40B4-BE49-F238E27FC236}">
                <a16:creationId xmlns:a16="http://schemas.microsoft.com/office/drawing/2014/main" id="{1E313444-4DCE-4119-9E80-E3A5048E5D71}"/>
              </a:ext>
            </a:extLst>
          </p:cNvPr>
          <p:cNvPicPr>
            <a:picLocks noChangeAspect="1"/>
          </p:cNvPicPr>
          <p:nvPr/>
        </p:nvPicPr>
        <p:blipFill>
          <a:blip r:embed="rId4"/>
          <a:stretch>
            <a:fillRect/>
          </a:stretch>
        </p:blipFill>
        <p:spPr>
          <a:xfrm>
            <a:off x="6323284" y="1017320"/>
            <a:ext cx="5622381" cy="3212338"/>
          </a:xfrm>
          <a:prstGeom prst="rect">
            <a:avLst/>
          </a:prstGeom>
        </p:spPr>
      </p:pic>
      <p:pic>
        <p:nvPicPr>
          <p:cNvPr id="5" name="Picture 4" descr="A graph of a number of miles&#10;&#10;Description automatically generated">
            <a:extLst>
              <a:ext uri="{FF2B5EF4-FFF2-40B4-BE49-F238E27FC236}">
                <a16:creationId xmlns:a16="http://schemas.microsoft.com/office/drawing/2014/main" id="{9FC6DD8D-1535-4B78-8D9E-5B335A87BFD4}"/>
              </a:ext>
            </a:extLst>
          </p:cNvPr>
          <p:cNvPicPr>
            <a:picLocks noChangeAspect="1"/>
          </p:cNvPicPr>
          <p:nvPr/>
        </p:nvPicPr>
        <p:blipFill>
          <a:blip r:embed="rId5"/>
          <a:stretch>
            <a:fillRect/>
          </a:stretch>
        </p:blipFill>
        <p:spPr>
          <a:xfrm>
            <a:off x="704062" y="1046386"/>
            <a:ext cx="5619222" cy="3212338"/>
          </a:xfrm>
          <a:prstGeom prst="rect">
            <a:avLst/>
          </a:prstGeom>
        </p:spPr>
      </p:pic>
    </p:spTree>
    <p:extLst>
      <p:ext uri="{BB962C8B-B14F-4D97-AF65-F5344CB8AC3E}">
        <p14:creationId xmlns:p14="http://schemas.microsoft.com/office/powerpoint/2010/main" val="5364545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p:nvPr/>
        </p:nvSpPr>
        <p:spPr>
          <a:xfrm>
            <a:off x="137160" y="45720"/>
            <a:ext cx="9509760" cy="446276"/>
          </a:xfrm>
          <a:prstGeom prst="rect">
            <a:avLst/>
          </a:prstGeom>
          <a:noFill/>
        </p:spPr>
        <p:txBody>
          <a:bodyPr wrap="square" anchor="t">
            <a:spAutoFit/>
          </a:bodyPr>
          <a:lstStyle/>
          <a:p>
            <a:pPr algn="l">
              <a:defRPr sz="2300" b="1">
                <a:solidFill>
                  <a:srgbClr val="D5242B"/>
                </a:solidFill>
                <a:latin typeface="Aptos"/>
              </a:defRPr>
            </a:pPr>
            <a:r>
              <a:rPr lang="en-US" dirty="0">
                <a:effectLst>
                  <a:outerShdw blurRad="38100" dist="38100" dir="2700000" algn="tl">
                    <a:srgbClr val="000000">
                      <a:alpha val="43137"/>
                    </a:srgbClr>
                  </a:outerShdw>
                </a:effectLst>
                <a:latin typeface="Arial Black" panose="020B0A04020102020204" pitchFamily="34" charset="0"/>
              </a:rPr>
              <a:t>Bivariate Analysis: Price vs Performance</a:t>
            </a:r>
          </a:p>
        </p:txBody>
      </p:sp>
      <p:sp>
        <p:nvSpPr>
          <p:cNvPr id="9" name="Rectangle 8"/>
          <p:cNvSpPr/>
          <p:nvPr/>
        </p:nvSpPr>
        <p:spPr>
          <a:xfrm>
            <a:off x="0" y="545464"/>
            <a:ext cx="10058400" cy="22860"/>
          </a:xfrm>
          <a:prstGeom prst="rect">
            <a:avLst/>
          </a:prstGeom>
          <a:solidFill>
            <a:srgbClr val="DADC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240594" y="947974"/>
            <a:ext cx="4069080" cy="338554"/>
          </a:xfrm>
          <a:prstGeom prst="rect">
            <a:avLst/>
          </a:prstGeom>
          <a:noFill/>
        </p:spPr>
        <p:txBody>
          <a:bodyPr wrap="square" anchor="t">
            <a:spAutoFit/>
          </a:bodyPr>
          <a:lstStyle/>
          <a:p>
            <a:pPr algn="ctr">
              <a:defRPr sz="1300" b="1">
                <a:solidFill>
                  <a:srgbClr val="262626"/>
                </a:solidFill>
                <a:latin typeface="Aptos"/>
              </a:defRPr>
            </a:pPr>
            <a:r>
              <a:rPr sz="1600" dirty="0">
                <a:solidFill>
                  <a:schemeClr val="accent2"/>
                </a:solidFill>
                <a:latin typeface="Arial Black" panose="020B0A04020102020204" pitchFamily="34" charset="0"/>
              </a:rPr>
              <a:t>Engine capacity vs price</a:t>
            </a:r>
          </a:p>
        </p:txBody>
      </p:sp>
      <p:sp>
        <p:nvSpPr>
          <p:cNvPr id="15" name="TextBox 14"/>
          <p:cNvSpPr txBox="1"/>
          <p:nvPr/>
        </p:nvSpPr>
        <p:spPr>
          <a:xfrm>
            <a:off x="7755508" y="1002438"/>
            <a:ext cx="2651760" cy="338554"/>
          </a:xfrm>
          <a:prstGeom prst="rect">
            <a:avLst/>
          </a:prstGeom>
          <a:noFill/>
        </p:spPr>
        <p:txBody>
          <a:bodyPr wrap="square" anchor="t">
            <a:spAutoFit/>
          </a:bodyPr>
          <a:lstStyle/>
          <a:p>
            <a:pPr algn="ctr">
              <a:defRPr sz="1300" b="1">
                <a:solidFill>
                  <a:srgbClr val="262626"/>
                </a:solidFill>
                <a:latin typeface="Aptos"/>
              </a:defRPr>
            </a:pPr>
            <a:r>
              <a:rPr lang="en-US" sz="1600" dirty="0">
                <a:solidFill>
                  <a:schemeClr val="accent2"/>
                </a:solidFill>
                <a:latin typeface="Arial Black" panose="020B0A04020102020204" pitchFamily="34" charset="0"/>
              </a:rPr>
              <a:t>Power vs </a:t>
            </a:r>
            <a:r>
              <a:rPr sz="1600" dirty="0">
                <a:solidFill>
                  <a:schemeClr val="accent2"/>
                </a:solidFill>
                <a:latin typeface="Arial Black" panose="020B0A04020102020204" pitchFamily="34" charset="0"/>
              </a:rPr>
              <a:t>Price</a:t>
            </a:r>
          </a:p>
        </p:txBody>
      </p:sp>
      <p:pic>
        <p:nvPicPr>
          <p:cNvPr id="18" name="Picture 17" descr="image(10).png">
            <a:extLst>
              <a:ext uri="{FF2B5EF4-FFF2-40B4-BE49-F238E27FC236}">
                <a16:creationId xmlns:a16="http://schemas.microsoft.com/office/drawing/2014/main" id="{AC43B444-9D44-46E8-BFE9-8A168CFA9CFE}"/>
              </a:ext>
            </a:extLst>
          </p:cNvPr>
          <p:cNvPicPr>
            <a:picLocks noChangeAspect="1"/>
          </p:cNvPicPr>
          <p:nvPr/>
        </p:nvPicPr>
        <p:blipFill>
          <a:blip r:embed="rId3"/>
          <a:stretch>
            <a:fillRect/>
          </a:stretch>
        </p:blipFill>
        <p:spPr>
          <a:xfrm>
            <a:off x="502920" y="1417320"/>
            <a:ext cx="5035519" cy="3962376"/>
          </a:xfrm>
          <a:prstGeom prst="rect">
            <a:avLst/>
          </a:prstGeom>
        </p:spPr>
      </p:pic>
      <p:pic>
        <p:nvPicPr>
          <p:cNvPr id="19" name="Picture 18" descr="image(20261029-122458).png">
            <a:extLst>
              <a:ext uri="{FF2B5EF4-FFF2-40B4-BE49-F238E27FC236}">
                <a16:creationId xmlns:a16="http://schemas.microsoft.com/office/drawing/2014/main" id="{BBC8554B-EB0C-40F0-8F15-0974516D6626}"/>
              </a:ext>
            </a:extLst>
          </p:cNvPr>
          <p:cNvPicPr>
            <a:picLocks noChangeAspect="1"/>
          </p:cNvPicPr>
          <p:nvPr/>
        </p:nvPicPr>
        <p:blipFill>
          <a:blip r:embed="rId4"/>
          <a:stretch>
            <a:fillRect/>
          </a:stretch>
        </p:blipFill>
        <p:spPr>
          <a:xfrm>
            <a:off x="6430537" y="1340992"/>
            <a:ext cx="5005037" cy="4004030"/>
          </a:xfrm>
          <a:prstGeom prst="rect">
            <a:avLst/>
          </a:prstGeom>
        </p:spPr>
      </p:pic>
      <p:sp>
        <p:nvSpPr>
          <p:cNvPr id="21" name="TextBox 20">
            <a:extLst>
              <a:ext uri="{FF2B5EF4-FFF2-40B4-BE49-F238E27FC236}">
                <a16:creationId xmlns:a16="http://schemas.microsoft.com/office/drawing/2014/main" id="{F267DD30-054E-4E36-BA1A-7DCF6AA6102A}"/>
              </a:ext>
            </a:extLst>
          </p:cNvPr>
          <p:cNvSpPr txBox="1"/>
          <p:nvPr/>
        </p:nvSpPr>
        <p:spPr>
          <a:xfrm>
            <a:off x="836341" y="5218213"/>
            <a:ext cx="8158976" cy="1384995"/>
          </a:xfrm>
          <a:prstGeom prst="rect">
            <a:avLst/>
          </a:prstGeom>
          <a:noFill/>
        </p:spPr>
        <p:txBody>
          <a:bodyPr wrap="square">
            <a:spAutoFit/>
          </a:bodyPr>
          <a:lstStyle/>
          <a:p>
            <a:r>
              <a:rPr lang="en-US" b="1" dirty="0">
                <a:solidFill>
                  <a:srgbClr val="C00000"/>
                </a:solidFill>
              </a:rPr>
              <a:t>Key Insights</a:t>
            </a:r>
            <a:endParaRPr lang="en-US" dirty="0">
              <a:solidFill>
                <a:srgbClr val="C00000"/>
              </a:solidFill>
            </a:endParaRPr>
          </a:p>
          <a:p>
            <a:pPr marL="285750" indent="-285750">
              <a:buFont typeface="Arial" panose="020B0604020202020204" pitchFamily="34" charset="0"/>
              <a:buChar char="•"/>
            </a:pPr>
            <a:r>
              <a:rPr lang="en-US" dirty="0"/>
              <a:t>Bike prices generally increase with engine capacity and power.</a:t>
            </a:r>
          </a:p>
          <a:p>
            <a:pPr marL="285750" indent="-285750">
              <a:buFont typeface="Arial" panose="020B0604020202020204" pitchFamily="34" charset="0"/>
              <a:buChar char="•"/>
            </a:pPr>
            <a:r>
              <a:rPr lang="en-US" dirty="0"/>
              <a:t>Higher-performance bikes tend to occupy higher price ranges in this sample.</a:t>
            </a:r>
          </a:p>
          <a:p>
            <a:pPr marL="285750" indent="-285750">
              <a:buFont typeface="Arial" panose="020B0604020202020204" pitchFamily="34" charset="0"/>
              <a:buChar char="•"/>
            </a:pPr>
            <a:r>
              <a:rPr lang="en-US" dirty="0"/>
              <a:t>A few premium models create extreme values and influence the relationships.</a:t>
            </a:r>
          </a:p>
          <a:p>
            <a:pPr marL="285750" indent="-285750">
              <a:buFont typeface="Arial" panose="020B0604020202020204" pitchFamily="34" charset="0"/>
              <a:buChar char="•"/>
            </a:pPr>
            <a:r>
              <a:rPr lang="en-US" dirty="0"/>
              <a:t>The observed trends should be interpreted cautiously because some specifications require verification.</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p:nvPr/>
        </p:nvSpPr>
        <p:spPr>
          <a:xfrm>
            <a:off x="137160" y="45720"/>
            <a:ext cx="5958840" cy="400110"/>
          </a:xfrm>
          <a:prstGeom prst="rect">
            <a:avLst/>
          </a:prstGeom>
          <a:noFill/>
        </p:spPr>
        <p:txBody>
          <a:bodyPr wrap="square" anchor="t">
            <a:spAutoFit/>
          </a:bodyPr>
          <a:lstStyle/>
          <a:p>
            <a:pPr algn="l">
              <a:defRPr sz="2300" b="1">
                <a:solidFill>
                  <a:srgbClr val="D5242B"/>
                </a:solidFill>
                <a:latin typeface="Aptos"/>
              </a:defRPr>
            </a:pPr>
            <a:r>
              <a:rPr lang="en-US" sz="2000" dirty="0">
                <a:effectLst>
                  <a:outerShdw blurRad="38100" dist="38100" dir="2700000" algn="tl">
                    <a:srgbClr val="000000">
                      <a:alpha val="43137"/>
                    </a:srgbClr>
                  </a:outerShdw>
                </a:effectLst>
                <a:latin typeface="Arial Black" panose="020B0A04020102020204" pitchFamily="34" charset="0"/>
              </a:rPr>
              <a:t>Bivariate Analysis: Mileage vs Price</a:t>
            </a:r>
          </a:p>
        </p:txBody>
      </p:sp>
      <p:sp>
        <p:nvSpPr>
          <p:cNvPr id="9" name="Rectangle 8"/>
          <p:cNvSpPr/>
          <p:nvPr/>
        </p:nvSpPr>
        <p:spPr>
          <a:xfrm>
            <a:off x="0" y="545464"/>
            <a:ext cx="10058400" cy="22860"/>
          </a:xfrm>
          <a:prstGeom prst="rect">
            <a:avLst/>
          </a:prstGeom>
          <a:solidFill>
            <a:srgbClr val="DADC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 name="Picture 9" descr="image(20261029-122539).png">
            <a:extLst>
              <a:ext uri="{FF2B5EF4-FFF2-40B4-BE49-F238E27FC236}">
                <a16:creationId xmlns:a16="http://schemas.microsoft.com/office/drawing/2014/main" id="{DAE3FD12-7E12-4E70-A443-F137AE1DAF5E}"/>
              </a:ext>
            </a:extLst>
          </p:cNvPr>
          <p:cNvPicPr>
            <a:picLocks noChangeAspect="1"/>
          </p:cNvPicPr>
          <p:nvPr/>
        </p:nvPicPr>
        <p:blipFill>
          <a:blip r:embed="rId3"/>
          <a:stretch>
            <a:fillRect/>
          </a:stretch>
        </p:blipFill>
        <p:spPr>
          <a:xfrm>
            <a:off x="469095" y="918118"/>
            <a:ext cx="5273362" cy="4270359"/>
          </a:xfrm>
          <a:prstGeom prst="rect">
            <a:avLst/>
          </a:prstGeom>
        </p:spPr>
      </p:pic>
      <p:pic>
        <p:nvPicPr>
          <p:cNvPr id="11" name="Picture 10" descr="image(20261029-122709).png">
            <a:extLst>
              <a:ext uri="{FF2B5EF4-FFF2-40B4-BE49-F238E27FC236}">
                <a16:creationId xmlns:a16="http://schemas.microsoft.com/office/drawing/2014/main" id="{A8710074-0552-43C2-BCA4-991B93361720}"/>
              </a:ext>
            </a:extLst>
          </p:cNvPr>
          <p:cNvPicPr>
            <a:picLocks noChangeAspect="1"/>
          </p:cNvPicPr>
          <p:nvPr/>
        </p:nvPicPr>
        <p:blipFill rotWithShape="1">
          <a:blip r:embed="rId4"/>
          <a:srcRect b="22241"/>
          <a:stretch/>
        </p:blipFill>
        <p:spPr>
          <a:xfrm>
            <a:off x="6256257" y="918118"/>
            <a:ext cx="5690046" cy="4300095"/>
          </a:xfrm>
          <a:prstGeom prst="rect">
            <a:avLst/>
          </a:prstGeom>
        </p:spPr>
      </p:pic>
      <p:sp>
        <p:nvSpPr>
          <p:cNvPr id="12" name="TextBox 11">
            <a:extLst>
              <a:ext uri="{FF2B5EF4-FFF2-40B4-BE49-F238E27FC236}">
                <a16:creationId xmlns:a16="http://schemas.microsoft.com/office/drawing/2014/main" id="{D643D4F9-8C03-4DC4-8D85-FB370D1CDE16}"/>
              </a:ext>
            </a:extLst>
          </p:cNvPr>
          <p:cNvSpPr txBox="1"/>
          <p:nvPr/>
        </p:nvSpPr>
        <p:spPr>
          <a:xfrm>
            <a:off x="6180750" y="54827"/>
            <a:ext cx="5958840" cy="369332"/>
          </a:xfrm>
          <a:prstGeom prst="rect">
            <a:avLst/>
          </a:prstGeom>
          <a:noFill/>
        </p:spPr>
        <p:txBody>
          <a:bodyPr wrap="square" anchor="t">
            <a:spAutoFit/>
          </a:bodyPr>
          <a:lstStyle/>
          <a:p>
            <a:pPr algn="l">
              <a:defRPr sz="2300" b="1">
                <a:solidFill>
                  <a:srgbClr val="D5242B"/>
                </a:solidFill>
                <a:latin typeface="Aptos"/>
              </a:defRPr>
            </a:pPr>
            <a:r>
              <a:rPr lang="en-US" sz="1800" dirty="0">
                <a:effectLst>
                  <a:outerShdw blurRad="38100" dist="38100" dir="2700000" algn="tl">
                    <a:srgbClr val="000000">
                      <a:alpha val="43137"/>
                    </a:srgbClr>
                  </a:outerShdw>
                </a:effectLst>
                <a:latin typeface="Arial Black" panose="020B0A04020102020204" pitchFamily="34" charset="0"/>
              </a:rPr>
              <a:t>Multivariate Analysis: Correlation Heatmap</a:t>
            </a:r>
          </a:p>
        </p:txBody>
      </p:sp>
      <p:sp>
        <p:nvSpPr>
          <p:cNvPr id="16" name="TextBox 15">
            <a:extLst>
              <a:ext uri="{FF2B5EF4-FFF2-40B4-BE49-F238E27FC236}">
                <a16:creationId xmlns:a16="http://schemas.microsoft.com/office/drawing/2014/main" id="{3886ADA1-1D2C-4ACD-AA3B-F8F75C61F536}"/>
              </a:ext>
            </a:extLst>
          </p:cNvPr>
          <p:cNvSpPr txBox="1"/>
          <p:nvPr/>
        </p:nvSpPr>
        <p:spPr>
          <a:xfrm>
            <a:off x="743415" y="5434362"/>
            <a:ext cx="7776115" cy="1175870"/>
          </a:xfrm>
          <a:prstGeom prst="rect">
            <a:avLst/>
          </a:prstGeom>
          <a:noFill/>
        </p:spPr>
        <p:txBody>
          <a:bodyPr wrap="square">
            <a:spAutoFit/>
          </a:bodyPr>
          <a:lstStyle/>
          <a:p>
            <a:r>
              <a:rPr lang="en-US" b="1" dirty="0">
                <a:solidFill>
                  <a:srgbClr val="C00000"/>
                </a:solidFill>
              </a:rPr>
              <a:t>Key Insights</a:t>
            </a:r>
            <a:endParaRPr lang="en-US" dirty="0">
              <a:solidFill>
                <a:srgbClr val="C00000"/>
              </a:solidFill>
            </a:endParaRPr>
          </a:p>
          <a:p>
            <a:pPr marL="285750" indent="-285750">
              <a:buFont typeface="Arial" panose="020B0604020202020204" pitchFamily="34" charset="0"/>
              <a:buChar char="•"/>
            </a:pPr>
            <a:r>
              <a:rPr lang="en-US" dirty="0"/>
              <a:t>Mileage and price show a strong negative correlation (</a:t>
            </a:r>
            <a:r>
              <a:rPr lang="en-US" b="1" dirty="0"/>
              <a:t>r = −0.815</a:t>
            </a:r>
            <a:r>
              <a:rPr lang="en-US" dirty="0"/>
              <a:t>) in the available sample.</a:t>
            </a:r>
          </a:p>
          <a:p>
            <a:pPr marL="285750" indent="-285750">
              <a:buFont typeface="Arial" panose="020B0604020202020204" pitchFamily="34" charset="0"/>
              <a:buChar char="•"/>
            </a:pPr>
            <a:r>
              <a:rPr lang="en-US" dirty="0"/>
              <a:t>Price has strong positive correlations with engine capacity (</a:t>
            </a:r>
            <a:r>
              <a:rPr lang="en-US" b="1" dirty="0"/>
              <a:t>r = 0.87</a:t>
            </a:r>
            <a:r>
              <a:rPr lang="en-US" dirty="0"/>
              <a:t>) and power (</a:t>
            </a:r>
            <a:r>
              <a:rPr lang="en-US" b="1" dirty="0"/>
              <a:t>r = 0.90</a:t>
            </a:r>
            <a:r>
              <a:rPr lang="en-US" dirty="0"/>
              <a:t>).</a:t>
            </a:r>
          </a:p>
          <a:p>
            <a:pPr marL="285750" indent="-285750">
              <a:buFont typeface="Arial" panose="020B0604020202020204" pitchFamily="34" charset="0"/>
              <a:buChar char="•"/>
            </a:pPr>
            <a:r>
              <a:rPr lang="en-US" dirty="0"/>
              <a:t>Engine capacity and power are strongly correlated (</a:t>
            </a:r>
            <a:r>
              <a:rPr lang="en-US" b="1" dirty="0"/>
              <a:t>r = 0.95</a:t>
            </a:r>
            <a:r>
              <a:rPr lang="en-US" dirty="0"/>
              <a:t>).</a:t>
            </a:r>
          </a:p>
          <a:p>
            <a:pPr marL="285750" indent="-285750">
              <a:buFont typeface="Arial" panose="020B0604020202020204" pitchFamily="34" charset="0"/>
              <a:buChar char="•"/>
            </a:pPr>
            <a:r>
              <a:rPr lang="en-US" dirty="0"/>
              <a:t>These relationships are associations in the scraped sample and do not imply causation.</a:t>
            </a:r>
          </a:p>
        </p:txBody>
      </p:sp>
    </p:spTree>
    <p:extLst>
      <p:ext uri="{BB962C8B-B14F-4D97-AF65-F5344CB8AC3E}">
        <p14:creationId xmlns:p14="http://schemas.microsoft.com/office/powerpoint/2010/main" val="52594135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clean_content_bg15.png"/>
          <p:cNvPicPr>
            <a:picLocks noChangeAspect="1"/>
          </p:cNvPicPr>
          <p:nvPr/>
        </p:nvPicPr>
        <p:blipFill>
          <a:blip r:embed="rId3"/>
          <a:stretch>
            <a:fillRect/>
          </a:stretch>
        </p:blipFill>
        <p:spPr>
          <a:xfrm>
            <a:off x="0" y="-96644"/>
            <a:ext cx="12192000" cy="6135162"/>
          </a:xfrm>
          <a:prstGeom prst="rect">
            <a:avLst/>
          </a:prstGeom>
        </p:spPr>
      </p:pic>
      <p:sp>
        <p:nvSpPr>
          <p:cNvPr id="8" name="TextBox 7"/>
          <p:cNvSpPr txBox="1"/>
          <p:nvPr/>
        </p:nvSpPr>
        <p:spPr>
          <a:xfrm>
            <a:off x="2009921" y="234762"/>
            <a:ext cx="9509760" cy="461665"/>
          </a:xfrm>
          <a:prstGeom prst="rect">
            <a:avLst/>
          </a:prstGeom>
          <a:noFill/>
        </p:spPr>
        <p:txBody>
          <a:bodyPr wrap="square" anchor="t">
            <a:spAutoFit/>
          </a:bodyPr>
          <a:lstStyle/>
          <a:p>
            <a:pPr algn="l">
              <a:defRPr sz="2300" b="1">
                <a:solidFill>
                  <a:srgbClr val="D5242B"/>
                </a:solidFill>
                <a:latin typeface="Aptos"/>
              </a:defRPr>
            </a:pPr>
            <a:r>
              <a:rPr sz="2400" dirty="0">
                <a:effectLst>
                  <a:outerShdw blurRad="38100" dist="38100" dir="2700000" algn="tl">
                    <a:srgbClr val="000000">
                      <a:alpha val="43137"/>
                    </a:srgbClr>
                  </a:outerShdw>
                </a:effectLst>
                <a:latin typeface="Arial Black" panose="020B0A04020102020204" pitchFamily="34" charset="0"/>
              </a:rPr>
              <a:t>Insights (Visual </a:t>
            </a:r>
            <a:r>
              <a:rPr lang="en-US" sz="2400" dirty="0">
                <a:effectLst>
                  <a:outerShdw blurRad="38100" dist="38100" dir="2700000" algn="tl">
                    <a:srgbClr val="000000">
                      <a:alpha val="43137"/>
                    </a:srgbClr>
                  </a:outerShdw>
                </a:effectLst>
                <a:latin typeface="Arial Black" panose="020B0A04020102020204" pitchFamily="34" charset="0"/>
              </a:rPr>
              <a:t>and </a:t>
            </a:r>
            <a:r>
              <a:rPr sz="2400" dirty="0">
                <a:effectLst>
                  <a:outerShdw blurRad="38100" dist="38100" dir="2700000" algn="tl">
                    <a:srgbClr val="000000">
                      <a:alpha val="43137"/>
                    </a:srgbClr>
                  </a:outerShdw>
                </a:effectLst>
                <a:latin typeface="Arial Black" panose="020B0A04020102020204" pitchFamily="34" charset="0"/>
              </a:rPr>
              <a:t> Non-Visual)</a:t>
            </a:r>
          </a:p>
        </p:txBody>
      </p:sp>
      <p:sp>
        <p:nvSpPr>
          <p:cNvPr id="9" name="Rectangle 8"/>
          <p:cNvSpPr/>
          <p:nvPr/>
        </p:nvSpPr>
        <p:spPr>
          <a:xfrm>
            <a:off x="1735601" y="722838"/>
            <a:ext cx="10058400" cy="22860"/>
          </a:xfrm>
          <a:prstGeom prst="rect">
            <a:avLst/>
          </a:prstGeom>
          <a:solidFill>
            <a:srgbClr val="DADC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384495" y="989035"/>
            <a:ext cx="5486400" cy="369332"/>
          </a:xfrm>
          <a:prstGeom prst="rect">
            <a:avLst/>
          </a:prstGeom>
          <a:noFill/>
        </p:spPr>
        <p:txBody>
          <a:bodyPr wrap="square" anchor="t">
            <a:spAutoFit/>
          </a:bodyPr>
          <a:lstStyle/>
          <a:p>
            <a:pPr algn="l">
              <a:defRPr sz="1400" b="1">
                <a:solidFill>
                  <a:srgbClr val="D5242B"/>
                </a:solidFill>
                <a:latin typeface="Aptos"/>
              </a:defRPr>
            </a:pPr>
            <a:r>
              <a:rPr lang="en-IN" sz="1800" u="sng" dirty="0">
                <a:latin typeface="Arial Black" panose="020B0A04020102020204" pitchFamily="34" charset="0"/>
              </a:rPr>
              <a:t>Average price by type</a:t>
            </a:r>
          </a:p>
        </p:txBody>
      </p:sp>
      <p:sp>
        <p:nvSpPr>
          <p:cNvPr id="16" name="Rounded Rectangle 15"/>
          <p:cNvSpPr/>
          <p:nvPr/>
        </p:nvSpPr>
        <p:spPr>
          <a:xfrm>
            <a:off x="685800" y="3977639"/>
            <a:ext cx="3246120" cy="1600200"/>
          </a:xfrm>
          <a:prstGeom prst="roundRect">
            <a:avLst/>
          </a:prstGeom>
          <a:solidFill>
            <a:srgbClr val="FFFFFF"/>
          </a:solidFill>
          <a:ln w="12700">
            <a:solidFill>
              <a:srgbClr val="DADCE0"/>
            </a:solidFill>
          </a:ln>
          <a:effectLst>
            <a:glow rad="63500">
              <a:schemeClr val="accent4">
                <a:satMod val="175000"/>
                <a:alpha val="40000"/>
              </a:schemeClr>
            </a:glow>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50392" y="4123944"/>
            <a:ext cx="2916936" cy="338554"/>
          </a:xfrm>
          <a:prstGeom prst="rect">
            <a:avLst/>
          </a:prstGeom>
          <a:noFill/>
        </p:spPr>
        <p:txBody>
          <a:bodyPr wrap="square" anchor="t">
            <a:spAutoFit/>
          </a:bodyPr>
          <a:lstStyle/>
          <a:p>
            <a:pPr algn="l">
              <a:defRPr sz="1350" b="1">
                <a:solidFill>
                  <a:srgbClr val="D5242B"/>
                </a:solidFill>
                <a:latin typeface="Aptos"/>
              </a:defRPr>
            </a:pPr>
            <a:r>
              <a:rPr sz="1600" u="sng" dirty="0">
                <a:latin typeface="Arial Black" panose="020B0A04020102020204" pitchFamily="34" charset="0"/>
              </a:rPr>
              <a:t>Visual insight</a:t>
            </a:r>
          </a:p>
        </p:txBody>
      </p:sp>
      <p:sp>
        <p:nvSpPr>
          <p:cNvPr id="18" name="TextBox 17"/>
          <p:cNvSpPr txBox="1"/>
          <p:nvPr/>
        </p:nvSpPr>
        <p:spPr>
          <a:xfrm>
            <a:off x="850392" y="4498848"/>
            <a:ext cx="2916936" cy="954107"/>
          </a:xfrm>
          <a:prstGeom prst="rect">
            <a:avLst/>
          </a:prstGeom>
          <a:noFill/>
        </p:spPr>
        <p:txBody>
          <a:bodyPr wrap="square" anchor="t">
            <a:spAutoFit/>
          </a:bodyPr>
          <a:lstStyle/>
          <a:p>
            <a:r>
              <a:rPr lang="en-US" dirty="0"/>
              <a:t>Higher engine capacity and power are generally associated with higher prices in the collected sample.</a:t>
            </a:r>
          </a:p>
        </p:txBody>
      </p:sp>
      <p:sp>
        <p:nvSpPr>
          <p:cNvPr id="19" name="Rounded Rectangle 18"/>
          <p:cNvSpPr/>
          <p:nvPr/>
        </p:nvSpPr>
        <p:spPr>
          <a:xfrm>
            <a:off x="4160520" y="3977639"/>
            <a:ext cx="3246120" cy="1600200"/>
          </a:xfrm>
          <a:prstGeom prst="roundRect">
            <a:avLst/>
          </a:prstGeom>
          <a:solidFill>
            <a:srgbClr val="FFFFFF"/>
          </a:solidFill>
          <a:ln w="12700">
            <a:solidFill>
              <a:srgbClr val="DADCE0"/>
            </a:solidFill>
          </a:ln>
          <a:effectLst>
            <a:glow rad="63500">
              <a:schemeClr val="accent4">
                <a:satMod val="175000"/>
                <a:alpha val="40000"/>
              </a:schemeClr>
            </a:glow>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325112" y="4123944"/>
            <a:ext cx="2916936" cy="338554"/>
          </a:xfrm>
          <a:prstGeom prst="rect">
            <a:avLst/>
          </a:prstGeom>
          <a:noFill/>
        </p:spPr>
        <p:txBody>
          <a:bodyPr wrap="square" anchor="t">
            <a:spAutoFit/>
          </a:bodyPr>
          <a:lstStyle/>
          <a:p>
            <a:pPr algn="l">
              <a:defRPr sz="1350" b="1">
                <a:solidFill>
                  <a:srgbClr val="D5242B"/>
                </a:solidFill>
                <a:latin typeface="Aptos"/>
              </a:defRPr>
            </a:pPr>
            <a:r>
              <a:rPr sz="1600" u="sng" dirty="0">
                <a:latin typeface="Arial Black" panose="020B0A04020102020204" pitchFamily="34" charset="0"/>
              </a:rPr>
              <a:t>Non-visual insight</a:t>
            </a:r>
          </a:p>
        </p:txBody>
      </p:sp>
      <p:sp>
        <p:nvSpPr>
          <p:cNvPr id="21" name="TextBox 20"/>
          <p:cNvSpPr txBox="1"/>
          <p:nvPr/>
        </p:nvSpPr>
        <p:spPr>
          <a:xfrm>
            <a:off x="4325112" y="4498848"/>
            <a:ext cx="2916936" cy="1015663"/>
          </a:xfrm>
          <a:prstGeom prst="rect">
            <a:avLst/>
          </a:prstGeom>
          <a:noFill/>
        </p:spPr>
        <p:txBody>
          <a:bodyPr wrap="square" anchor="t">
            <a:spAutoFit/>
          </a:bodyPr>
          <a:lstStyle/>
          <a:p>
            <a:pPr algn="just"/>
            <a:r>
              <a:rPr lang="en-US" sz="1200" dirty="0"/>
              <a:t>TVS has 11 records in the cleaned dataset, followed by Bajaj and Hero with 8 records each. These counts describe the collected sample, not the overall Indian market.</a:t>
            </a:r>
          </a:p>
        </p:txBody>
      </p:sp>
      <p:sp>
        <p:nvSpPr>
          <p:cNvPr id="22" name="Rounded Rectangle 21"/>
          <p:cNvSpPr/>
          <p:nvPr/>
        </p:nvSpPr>
        <p:spPr>
          <a:xfrm>
            <a:off x="7635239" y="3977639"/>
            <a:ext cx="3487029" cy="1600200"/>
          </a:xfrm>
          <a:prstGeom prst="roundRect">
            <a:avLst/>
          </a:prstGeom>
          <a:solidFill>
            <a:srgbClr val="FFFFFF"/>
          </a:solidFill>
          <a:ln w="12700">
            <a:solidFill>
              <a:srgbClr val="DADCE0"/>
            </a:solidFill>
          </a:ln>
          <a:effectLst>
            <a:glow rad="63500">
              <a:schemeClr val="accent4">
                <a:satMod val="175000"/>
                <a:alpha val="40000"/>
              </a:schemeClr>
            </a:glow>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7799831" y="4123944"/>
            <a:ext cx="2916936" cy="338554"/>
          </a:xfrm>
          <a:prstGeom prst="rect">
            <a:avLst/>
          </a:prstGeom>
          <a:noFill/>
        </p:spPr>
        <p:txBody>
          <a:bodyPr wrap="square" anchor="t">
            <a:spAutoFit/>
          </a:bodyPr>
          <a:lstStyle/>
          <a:p>
            <a:pPr algn="l">
              <a:defRPr sz="1350" b="1">
                <a:solidFill>
                  <a:srgbClr val="D5242B"/>
                </a:solidFill>
                <a:latin typeface="Aptos"/>
              </a:defRPr>
            </a:pPr>
            <a:r>
              <a:rPr sz="1600" u="sng" dirty="0">
                <a:latin typeface="Arial Black" panose="020B0A04020102020204" pitchFamily="34" charset="0"/>
              </a:rPr>
              <a:t>Why pivot tables help</a:t>
            </a:r>
          </a:p>
        </p:txBody>
      </p:sp>
      <p:sp>
        <p:nvSpPr>
          <p:cNvPr id="24" name="TextBox 23"/>
          <p:cNvSpPr txBox="1"/>
          <p:nvPr/>
        </p:nvSpPr>
        <p:spPr>
          <a:xfrm>
            <a:off x="7799830" y="4498848"/>
            <a:ext cx="3246119" cy="954107"/>
          </a:xfrm>
          <a:prstGeom prst="rect">
            <a:avLst/>
          </a:prstGeom>
          <a:noFill/>
        </p:spPr>
        <p:txBody>
          <a:bodyPr wrap="square" anchor="t">
            <a:spAutoFit/>
          </a:bodyPr>
          <a:lstStyle/>
          <a:p>
            <a:pPr algn="just"/>
            <a:r>
              <a:rPr lang="en-US" dirty="0"/>
              <a:t>Pivot tables summarize data by bike type, brand, or price segment, making group-level comparisons easier and supporting data-driven decisions.</a:t>
            </a:r>
          </a:p>
        </p:txBody>
      </p:sp>
      <p:sp>
        <p:nvSpPr>
          <p:cNvPr id="28" name="TextBox 27">
            <a:extLst>
              <a:ext uri="{FF2B5EF4-FFF2-40B4-BE49-F238E27FC236}">
                <a16:creationId xmlns:a16="http://schemas.microsoft.com/office/drawing/2014/main" id="{890677D1-86B8-4928-981D-9E917064C0BE}"/>
              </a:ext>
            </a:extLst>
          </p:cNvPr>
          <p:cNvSpPr txBox="1"/>
          <p:nvPr/>
        </p:nvSpPr>
        <p:spPr>
          <a:xfrm>
            <a:off x="1376875" y="1424792"/>
            <a:ext cx="4406705" cy="1292662"/>
          </a:xfrm>
          <a:prstGeom prst="rect">
            <a:avLst/>
          </a:prstGeom>
          <a:noFill/>
        </p:spPr>
        <p:txBody>
          <a:bodyPr wrap="square">
            <a:spAutoFit/>
          </a:bodyPr>
          <a:lstStyle/>
          <a:p>
            <a:r>
              <a:rPr lang="en-IN" sz="1800" b="1" dirty="0"/>
              <a:t>Electric</a:t>
            </a:r>
          </a:p>
          <a:p>
            <a:r>
              <a:rPr lang="en-IN" dirty="0"/>
              <a:t>₹1,31,047</a:t>
            </a:r>
          </a:p>
          <a:p>
            <a:endParaRPr lang="en-IN" dirty="0"/>
          </a:p>
          <a:p>
            <a:r>
              <a:rPr lang="en-IN" sz="1600" b="1" dirty="0"/>
              <a:t>Petrol / Other</a:t>
            </a:r>
          </a:p>
          <a:p>
            <a:r>
              <a:rPr lang="en-IN" dirty="0"/>
              <a:t>₹3,02,069</a:t>
            </a:r>
          </a:p>
        </p:txBody>
      </p:sp>
      <p:sp>
        <p:nvSpPr>
          <p:cNvPr id="29" name="TextBox 28">
            <a:extLst>
              <a:ext uri="{FF2B5EF4-FFF2-40B4-BE49-F238E27FC236}">
                <a16:creationId xmlns:a16="http://schemas.microsoft.com/office/drawing/2014/main" id="{8A096021-9343-4A7A-A1C1-1A012F2E2BFE}"/>
              </a:ext>
            </a:extLst>
          </p:cNvPr>
          <p:cNvSpPr txBox="1"/>
          <p:nvPr/>
        </p:nvSpPr>
        <p:spPr>
          <a:xfrm>
            <a:off x="1376875" y="2925857"/>
            <a:ext cx="4406705" cy="738664"/>
          </a:xfrm>
          <a:prstGeom prst="rect">
            <a:avLst/>
          </a:prstGeom>
          <a:noFill/>
        </p:spPr>
        <p:txBody>
          <a:bodyPr wrap="square">
            <a:spAutoFit/>
          </a:bodyPr>
          <a:lstStyle/>
          <a:p>
            <a:r>
              <a:rPr lang="en-IN" dirty="0"/>
              <a:t>The petrol/other mean is affected by high-priced premium models; medians differ less: Electric ₹1,19,444; Petrol/Other ₹1,75,346.</a:t>
            </a:r>
          </a:p>
        </p:txBody>
      </p:sp>
      <p:pic>
        <p:nvPicPr>
          <p:cNvPr id="30" name="Picture 29" descr="image(20261029-123026).png">
            <a:extLst>
              <a:ext uri="{FF2B5EF4-FFF2-40B4-BE49-F238E27FC236}">
                <a16:creationId xmlns:a16="http://schemas.microsoft.com/office/drawing/2014/main" id="{D500D122-F74D-425B-BE1D-1BC84A73E4DE}"/>
              </a:ext>
            </a:extLst>
          </p:cNvPr>
          <p:cNvPicPr>
            <a:picLocks noChangeAspect="1"/>
          </p:cNvPicPr>
          <p:nvPr/>
        </p:nvPicPr>
        <p:blipFill>
          <a:blip r:embed="rId4"/>
          <a:stretch>
            <a:fillRect/>
          </a:stretch>
        </p:blipFill>
        <p:spPr>
          <a:xfrm>
            <a:off x="6408422" y="759188"/>
            <a:ext cx="4728303" cy="3045348"/>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A26794-E7AD-1963-4998-54C803A6AF73}"/>
            </a:ext>
          </a:extLst>
        </p:cNvPr>
        <p:cNvGrpSpPr/>
        <p:nvPr/>
      </p:nvGrpSpPr>
      <p:grpSpPr>
        <a:xfrm>
          <a:off x="0" y="0"/>
          <a:ext cx="0" cy="0"/>
          <a:chOff x="0" y="0"/>
          <a:chExt cx="0" cy="0"/>
        </a:xfrm>
      </p:grpSpPr>
      <p:pic>
        <p:nvPicPr>
          <p:cNvPr id="7" name="Picture 6" descr="clean_content_bg15.png">
            <a:extLst>
              <a:ext uri="{FF2B5EF4-FFF2-40B4-BE49-F238E27FC236}">
                <a16:creationId xmlns:a16="http://schemas.microsoft.com/office/drawing/2014/main" id="{CCCDEBDA-DD33-1EC2-0DEC-8C54C2DB6C5F}"/>
              </a:ext>
            </a:extLst>
          </p:cNvPr>
          <p:cNvPicPr>
            <a:picLocks noChangeAspect="1"/>
          </p:cNvPicPr>
          <p:nvPr/>
        </p:nvPicPr>
        <p:blipFill>
          <a:blip r:embed="rId2"/>
          <a:stretch>
            <a:fillRect/>
          </a:stretch>
        </p:blipFill>
        <p:spPr>
          <a:xfrm>
            <a:off x="0" y="-96644"/>
            <a:ext cx="12192000" cy="6216162"/>
          </a:xfrm>
          <a:prstGeom prst="rect">
            <a:avLst/>
          </a:prstGeom>
        </p:spPr>
      </p:pic>
      <p:sp>
        <p:nvSpPr>
          <p:cNvPr id="8" name="TextBox 7">
            <a:extLst>
              <a:ext uri="{FF2B5EF4-FFF2-40B4-BE49-F238E27FC236}">
                <a16:creationId xmlns:a16="http://schemas.microsoft.com/office/drawing/2014/main" id="{BACC2071-F54B-24FF-B2E6-AC4F28A38870}"/>
              </a:ext>
            </a:extLst>
          </p:cNvPr>
          <p:cNvSpPr txBox="1"/>
          <p:nvPr/>
        </p:nvSpPr>
        <p:spPr>
          <a:xfrm>
            <a:off x="2009921" y="234762"/>
            <a:ext cx="9509760" cy="461665"/>
          </a:xfrm>
          <a:prstGeom prst="rect">
            <a:avLst/>
          </a:prstGeom>
          <a:noFill/>
        </p:spPr>
        <p:txBody>
          <a:bodyPr wrap="square" anchor="t">
            <a:spAutoFit/>
          </a:bodyPr>
          <a:lstStyle/>
          <a:p>
            <a:pPr algn="l">
              <a:defRPr sz="2300" b="1">
                <a:solidFill>
                  <a:srgbClr val="D5242B"/>
                </a:solidFill>
                <a:latin typeface="Aptos"/>
              </a:defRPr>
            </a:pPr>
            <a:r>
              <a:rPr sz="2400" dirty="0">
                <a:effectLst>
                  <a:outerShdw blurRad="38100" dist="38100" dir="2700000" algn="tl">
                    <a:srgbClr val="000000">
                      <a:alpha val="43137"/>
                    </a:srgbClr>
                  </a:outerShdw>
                </a:effectLst>
                <a:latin typeface="Arial Black" panose="020B0A04020102020204" pitchFamily="34" charset="0"/>
              </a:rPr>
              <a:t>Insights (Visual </a:t>
            </a:r>
            <a:r>
              <a:rPr lang="en-US" sz="2400" dirty="0">
                <a:effectLst>
                  <a:outerShdw blurRad="38100" dist="38100" dir="2700000" algn="tl">
                    <a:srgbClr val="000000">
                      <a:alpha val="43137"/>
                    </a:srgbClr>
                  </a:outerShdw>
                </a:effectLst>
                <a:latin typeface="Arial Black" panose="020B0A04020102020204" pitchFamily="34" charset="0"/>
              </a:rPr>
              <a:t>and </a:t>
            </a:r>
            <a:r>
              <a:rPr sz="2400" dirty="0">
                <a:effectLst>
                  <a:outerShdw blurRad="38100" dist="38100" dir="2700000" algn="tl">
                    <a:srgbClr val="000000">
                      <a:alpha val="43137"/>
                    </a:srgbClr>
                  </a:outerShdw>
                </a:effectLst>
                <a:latin typeface="Arial Black" panose="020B0A04020102020204" pitchFamily="34" charset="0"/>
              </a:rPr>
              <a:t> Non-Visual)</a:t>
            </a:r>
          </a:p>
        </p:txBody>
      </p:sp>
      <p:sp>
        <p:nvSpPr>
          <p:cNvPr id="9" name="Rectangle 8">
            <a:extLst>
              <a:ext uri="{FF2B5EF4-FFF2-40B4-BE49-F238E27FC236}">
                <a16:creationId xmlns:a16="http://schemas.microsoft.com/office/drawing/2014/main" id="{3BD5DE9F-B1BE-4B94-4A91-F877D7562A3C}"/>
              </a:ext>
            </a:extLst>
          </p:cNvPr>
          <p:cNvSpPr/>
          <p:nvPr/>
        </p:nvSpPr>
        <p:spPr>
          <a:xfrm>
            <a:off x="1735601" y="722838"/>
            <a:ext cx="10058400" cy="22860"/>
          </a:xfrm>
          <a:prstGeom prst="rect">
            <a:avLst/>
          </a:prstGeom>
          <a:solidFill>
            <a:srgbClr val="DADC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a:extLst>
              <a:ext uri="{FF2B5EF4-FFF2-40B4-BE49-F238E27FC236}">
                <a16:creationId xmlns:a16="http://schemas.microsoft.com/office/drawing/2014/main" id="{DF4E44E6-77E8-635E-BC34-EEED31B1F8F2}"/>
              </a:ext>
            </a:extLst>
          </p:cNvPr>
          <p:cNvSpPr txBox="1"/>
          <p:nvPr/>
        </p:nvSpPr>
        <p:spPr>
          <a:xfrm>
            <a:off x="1665848" y="912976"/>
            <a:ext cx="9853833" cy="2123658"/>
          </a:xfrm>
          <a:prstGeom prst="rect">
            <a:avLst/>
          </a:prstGeom>
          <a:solidFill>
            <a:schemeClr val="bg1"/>
          </a:solidFill>
          <a:effectLst>
            <a:glow rad="63500">
              <a:schemeClr val="accent4">
                <a:satMod val="175000"/>
                <a:alpha val="40000"/>
              </a:schemeClr>
            </a:glow>
            <a:outerShdw blurRad="40000" dist="20000" dir="5400000" rotWithShape="0">
              <a:srgbClr val="000000">
                <a:alpha val="38000"/>
              </a:srgbClr>
            </a:outerShdw>
          </a:effectLst>
        </p:spPr>
        <p:style>
          <a:lnRef idx="1">
            <a:schemeClr val="accent6"/>
          </a:lnRef>
          <a:fillRef idx="2">
            <a:schemeClr val="accent6"/>
          </a:fillRef>
          <a:effectRef idx="1">
            <a:schemeClr val="accent6"/>
          </a:effectRef>
          <a:fontRef idx="minor">
            <a:schemeClr val="dk1"/>
          </a:fontRef>
        </p:style>
        <p:txBody>
          <a:bodyPr wrap="square" anchor="t">
            <a:spAutoFit/>
          </a:bodyPr>
          <a:lstStyle/>
          <a:p>
            <a:pPr marL="171450" lvl="4" indent="-171450" algn="just" latinLnBrk="1">
              <a:buFont typeface="Wingdings" panose="05000000000000000000" pitchFamily="2" charset="2"/>
              <a:buChar char="Ø"/>
            </a:pPr>
            <a:r>
              <a:rPr lang="en-US" sz="1200" dirty="0">
                <a:solidFill>
                  <a:schemeClr val="tx1"/>
                </a:solidFill>
              </a:rPr>
              <a:t>Most records in the scraped sample fall within lower price ranges, while a few premium models extend the price distribution.</a:t>
            </a:r>
          </a:p>
          <a:p>
            <a:pPr marL="171450" lvl="4" indent="-171450" algn="just" latinLnBrk="1">
              <a:buFont typeface="Wingdings" panose="05000000000000000000" pitchFamily="2" charset="2"/>
              <a:buChar char="Ø"/>
            </a:pPr>
            <a:endParaRPr lang="en-US" sz="1200" dirty="0">
              <a:solidFill>
                <a:schemeClr val="tx1"/>
              </a:solidFill>
            </a:endParaRPr>
          </a:p>
          <a:p>
            <a:pPr marL="171450" lvl="4" indent="-171450" algn="just" latinLnBrk="1">
              <a:buFont typeface="Wingdings" panose="05000000000000000000" pitchFamily="2" charset="2"/>
              <a:buChar char="Ø"/>
            </a:pPr>
            <a:r>
              <a:rPr lang="en-US" sz="1200" dirty="0">
                <a:solidFill>
                  <a:schemeClr val="tx1"/>
                </a:solidFill>
              </a:rPr>
              <a:t>Engine capacity and power show positive relationships with price in the available sample.</a:t>
            </a:r>
          </a:p>
          <a:p>
            <a:pPr marL="171450" lvl="4" indent="-171450" algn="just" latinLnBrk="1">
              <a:buFont typeface="Wingdings" panose="05000000000000000000" pitchFamily="2" charset="2"/>
              <a:buChar char="Ø"/>
            </a:pPr>
            <a:endParaRPr lang="en-US" sz="1200" dirty="0">
              <a:solidFill>
                <a:schemeClr val="tx1"/>
              </a:solidFill>
            </a:endParaRPr>
          </a:p>
          <a:p>
            <a:pPr marL="171450" lvl="4" indent="-171450" algn="just" latinLnBrk="1">
              <a:buFont typeface="Wingdings" panose="05000000000000000000" pitchFamily="2" charset="2"/>
              <a:buChar char="Ø"/>
            </a:pPr>
            <a:r>
              <a:rPr lang="en-US" sz="1200" dirty="0">
                <a:solidFill>
                  <a:schemeClr val="tx1"/>
                </a:solidFill>
              </a:rPr>
              <a:t>Mileage and price show a negative relationship in the available records.</a:t>
            </a:r>
          </a:p>
          <a:p>
            <a:pPr marL="171450" lvl="4" indent="-171450" algn="just" latinLnBrk="1">
              <a:buFont typeface="Wingdings" panose="05000000000000000000" pitchFamily="2" charset="2"/>
              <a:buChar char="Ø"/>
            </a:pPr>
            <a:endParaRPr lang="en-US" sz="1200" dirty="0">
              <a:solidFill>
                <a:schemeClr val="tx1"/>
              </a:solidFill>
            </a:endParaRPr>
          </a:p>
          <a:p>
            <a:pPr marL="171450" lvl="4" indent="-171450" algn="just" latinLnBrk="1">
              <a:buFont typeface="Wingdings" panose="05000000000000000000" pitchFamily="2" charset="2"/>
              <a:buChar char="Ø"/>
            </a:pPr>
            <a:r>
              <a:rPr lang="en-US" sz="1200" dirty="0">
                <a:solidFill>
                  <a:schemeClr val="tx1"/>
                </a:solidFill>
              </a:rPr>
              <a:t>TVS has the highest representation in the cleaned dataset, with 11 records.</a:t>
            </a:r>
          </a:p>
          <a:p>
            <a:pPr marL="171450" lvl="4" indent="-171450" algn="just" latinLnBrk="1">
              <a:buFont typeface="Wingdings" panose="05000000000000000000" pitchFamily="2" charset="2"/>
              <a:buChar char="Ø"/>
            </a:pPr>
            <a:endParaRPr lang="en-US" sz="1200" dirty="0">
              <a:solidFill>
                <a:schemeClr val="tx1"/>
              </a:solidFill>
            </a:endParaRPr>
          </a:p>
          <a:p>
            <a:pPr marL="171450" lvl="4" indent="-171450" algn="just" latinLnBrk="1">
              <a:buFont typeface="Wingdings" panose="05000000000000000000" pitchFamily="2" charset="2"/>
              <a:buChar char="Ø"/>
            </a:pPr>
            <a:r>
              <a:rPr lang="en-US" sz="1200" dirty="0">
                <a:solidFill>
                  <a:schemeClr val="tx1"/>
                </a:solidFill>
              </a:rPr>
              <a:t>Electric and petrol bikes require different comparison criteria because their powertrain specifications differ.</a:t>
            </a:r>
          </a:p>
          <a:p>
            <a:pPr marL="171450" lvl="4" indent="-171450" algn="just" latinLnBrk="1">
              <a:buFont typeface="Wingdings" panose="05000000000000000000" pitchFamily="2" charset="2"/>
              <a:buChar char="Ø"/>
            </a:pPr>
            <a:endParaRPr lang="en-US" sz="1200" dirty="0">
              <a:solidFill>
                <a:schemeClr val="tx1"/>
              </a:solidFill>
            </a:endParaRPr>
          </a:p>
          <a:p>
            <a:pPr marL="171450" lvl="4" indent="-171450" algn="just" latinLnBrk="1">
              <a:buFont typeface="Wingdings" panose="05000000000000000000" pitchFamily="2" charset="2"/>
              <a:buChar char="Ø"/>
            </a:pPr>
            <a:r>
              <a:rPr lang="en-US" sz="1200" dirty="0">
                <a:solidFill>
                  <a:schemeClr val="tx1"/>
                </a:solidFill>
              </a:rPr>
              <a:t>These findings describe the scraped sample and should not be interpreted as a complete picture of the Indian two-wheeler market.</a:t>
            </a:r>
            <a:endParaRPr sz="1200" dirty="0">
              <a:solidFill>
                <a:schemeClr val="tx1"/>
              </a:solidFill>
            </a:endParaRPr>
          </a:p>
        </p:txBody>
      </p:sp>
      <p:sp>
        <p:nvSpPr>
          <p:cNvPr id="28" name="TextBox 27">
            <a:extLst>
              <a:ext uri="{FF2B5EF4-FFF2-40B4-BE49-F238E27FC236}">
                <a16:creationId xmlns:a16="http://schemas.microsoft.com/office/drawing/2014/main" id="{82D961CB-F47F-24B8-68D3-F63DFE9B8278}"/>
              </a:ext>
            </a:extLst>
          </p:cNvPr>
          <p:cNvSpPr txBox="1"/>
          <p:nvPr/>
        </p:nvSpPr>
        <p:spPr>
          <a:xfrm>
            <a:off x="788019" y="3203912"/>
            <a:ext cx="8088351" cy="3477875"/>
          </a:xfrm>
          <a:prstGeom prst="rect">
            <a:avLst/>
          </a:prstGeom>
          <a:solidFill>
            <a:schemeClr val="bg1"/>
          </a:solidFill>
          <a:ln>
            <a:solidFill>
              <a:schemeClr val="accent1"/>
            </a:solidFill>
          </a:ln>
          <a:effectLst>
            <a:glow rad="63500">
              <a:schemeClr val="accent4">
                <a:satMod val="175000"/>
                <a:alpha val="40000"/>
              </a:schemeClr>
            </a:glow>
            <a:outerShdw blurRad="40000" dist="20000" dir="5400000" rotWithShape="0">
              <a:srgbClr val="000000">
                <a:alpha val="38000"/>
              </a:srgbClr>
            </a:outerShdw>
          </a:effectLst>
        </p:spPr>
        <p:style>
          <a:lnRef idx="1">
            <a:schemeClr val="accent6"/>
          </a:lnRef>
          <a:fillRef idx="2">
            <a:schemeClr val="accent6"/>
          </a:fillRef>
          <a:effectRef idx="1">
            <a:schemeClr val="accent6"/>
          </a:effectRef>
          <a:fontRef idx="minor">
            <a:schemeClr val="dk1"/>
          </a:fontRef>
        </p:style>
        <p:txBody>
          <a:bodyPr wrap="square" anchor="t">
            <a:spAutoFit/>
          </a:bodyPr>
          <a:lstStyle/>
          <a:p>
            <a:pPr latinLnBrk="1"/>
            <a:r>
              <a:rPr lang="en-US" sz="1100" b="1" u="sng" dirty="0">
                <a:solidFill>
                  <a:schemeClr val="accent2"/>
                </a:solidFill>
                <a:latin typeface="Arial Black" panose="020B0A04020102020204" pitchFamily="34" charset="0"/>
              </a:rPr>
              <a:t>BEST FOR DAILY COMMUTE</a:t>
            </a:r>
          </a:p>
          <a:p>
            <a:pPr latinLnBrk="1"/>
            <a:endParaRPr lang="en-US" sz="1100" b="1" u="sng" dirty="0">
              <a:solidFill>
                <a:schemeClr val="accent2"/>
              </a:solidFill>
              <a:latin typeface="Arial Black" panose="020B0A04020102020204" pitchFamily="34" charset="0"/>
            </a:endParaRPr>
          </a:p>
          <a:p>
            <a:pPr latinLnBrk="1"/>
            <a:r>
              <a:rPr lang="en-US" sz="1100" b="1" u="sng" dirty="0">
                <a:solidFill>
                  <a:schemeClr val="accent2"/>
                </a:solidFill>
                <a:latin typeface="Arial Black" panose="020B0A04020102020204" pitchFamily="34" charset="0"/>
              </a:rPr>
              <a:t>Feature: </a:t>
            </a:r>
            <a:r>
              <a:rPr lang="en-US" sz="1100" b="1" dirty="0">
                <a:solidFill>
                  <a:schemeClr val="tx1"/>
                </a:solidFill>
                <a:latin typeface="Arial Black" panose="020B0A04020102020204" pitchFamily="34" charset="0"/>
              </a:rPr>
              <a:t>Higher reported mileage and affordable starting price</a:t>
            </a:r>
          </a:p>
          <a:p>
            <a:pPr latinLnBrk="1"/>
            <a:r>
              <a:rPr lang="en-US" sz="1100" b="1" dirty="0">
                <a:solidFill>
                  <a:schemeClr val="tx1"/>
                </a:solidFill>
                <a:latin typeface="Arial Black" panose="020B0A04020102020204" pitchFamily="34" charset="0"/>
              </a:rPr>
              <a:t>Select the bike with the highest verified mileage among suitable, budget-friendly petrol bikes.</a:t>
            </a:r>
          </a:p>
          <a:p>
            <a:pPr latinLnBrk="1"/>
            <a:endParaRPr lang="en-US" sz="1100" b="1" u="sng" dirty="0">
              <a:solidFill>
                <a:schemeClr val="accent2"/>
              </a:solidFill>
              <a:latin typeface="Arial Black" panose="020B0A04020102020204" pitchFamily="34" charset="0"/>
            </a:endParaRPr>
          </a:p>
          <a:p>
            <a:pPr latinLnBrk="1"/>
            <a:r>
              <a:rPr lang="en-US" sz="1100" b="1" u="sng" dirty="0">
                <a:solidFill>
                  <a:schemeClr val="accent2"/>
                </a:solidFill>
                <a:latin typeface="Arial Black" panose="020B0A04020102020204" pitchFamily="34" charset="0"/>
              </a:rPr>
              <a:t>BEST FOR HIGH PERFORMANCE</a:t>
            </a:r>
          </a:p>
          <a:p>
            <a:pPr latinLnBrk="1"/>
            <a:r>
              <a:rPr lang="en-US" sz="1100" b="1" u="sng" dirty="0">
                <a:solidFill>
                  <a:schemeClr val="accent2"/>
                </a:solidFill>
                <a:latin typeface="Arial Black" panose="020B0A04020102020204" pitchFamily="34" charset="0"/>
              </a:rPr>
              <a:t>Feature: </a:t>
            </a:r>
            <a:r>
              <a:rPr lang="en-US" sz="1100" b="1" dirty="0">
                <a:solidFill>
                  <a:schemeClr val="tx1"/>
                </a:solidFill>
                <a:latin typeface="Arial Black" panose="020B0A04020102020204" pitchFamily="34" charset="0"/>
              </a:rPr>
              <a:t>Maximum engine power</a:t>
            </a:r>
          </a:p>
          <a:p>
            <a:pPr latinLnBrk="1"/>
            <a:r>
              <a:rPr lang="en-US" sz="1100" b="1" dirty="0">
                <a:solidFill>
                  <a:schemeClr val="tx1"/>
                </a:solidFill>
                <a:latin typeface="Arial Black" panose="020B0A04020102020204" pitchFamily="34" charset="0"/>
              </a:rPr>
              <a:t>Select the bike with the highest verified power output among the available records.</a:t>
            </a:r>
          </a:p>
          <a:p>
            <a:pPr latinLnBrk="1"/>
            <a:endParaRPr lang="en-US" sz="1100" b="1" u="sng" dirty="0">
              <a:solidFill>
                <a:schemeClr val="accent2"/>
              </a:solidFill>
              <a:latin typeface="Arial Black" panose="020B0A04020102020204" pitchFamily="34" charset="0"/>
            </a:endParaRPr>
          </a:p>
          <a:p>
            <a:pPr latinLnBrk="1"/>
            <a:r>
              <a:rPr lang="en-US" sz="1100" b="1" u="sng" dirty="0">
                <a:solidFill>
                  <a:schemeClr val="accent2"/>
                </a:solidFill>
                <a:latin typeface="Arial Black" panose="020B0A04020102020204" pitchFamily="34" charset="0"/>
              </a:rPr>
              <a:t>BEST FOR VALUE</a:t>
            </a:r>
          </a:p>
          <a:p>
            <a:pPr latinLnBrk="1"/>
            <a:r>
              <a:rPr lang="en-US" sz="1100" b="1" u="sng" dirty="0">
                <a:solidFill>
                  <a:schemeClr val="accent2"/>
                </a:solidFill>
                <a:latin typeface="Arial Black" panose="020B0A04020102020204" pitchFamily="34" charset="0"/>
              </a:rPr>
              <a:t>Feature: </a:t>
            </a:r>
            <a:r>
              <a:rPr lang="en-US" sz="1100" b="1" dirty="0">
                <a:solidFill>
                  <a:schemeClr val="tx1"/>
                </a:solidFill>
                <a:latin typeface="Arial Black" panose="020B0A04020102020204" pitchFamily="34" charset="0"/>
              </a:rPr>
              <a:t>Balance of price, user rating, and practical specifications</a:t>
            </a:r>
          </a:p>
          <a:p>
            <a:pPr latinLnBrk="1"/>
            <a:r>
              <a:rPr lang="en-US" sz="1100" b="1" dirty="0">
                <a:solidFill>
                  <a:schemeClr val="tx1"/>
                </a:solidFill>
                <a:latin typeface="Arial Black" panose="020B0A04020102020204" pitchFamily="34" charset="0"/>
              </a:rPr>
              <a:t>Compare verified prices, user ratings, and available specifications before selecting a model.</a:t>
            </a:r>
          </a:p>
          <a:p>
            <a:pPr latinLnBrk="1"/>
            <a:endParaRPr lang="en-US" sz="1100" b="1" u="sng" dirty="0">
              <a:solidFill>
                <a:schemeClr val="accent2"/>
              </a:solidFill>
              <a:latin typeface="Arial Black" panose="020B0A04020102020204" pitchFamily="34" charset="0"/>
            </a:endParaRPr>
          </a:p>
          <a:p>
            <a:pPr latinLnBrk="1"/>
            <a:r>
              <a:rPr lang="en-US" sz="1100" b="1" u="sng" dirty="0">
                <a:solidFill>
                  <a:schemeClr val="accent2"/>
                </a:solidFill>
                <a:latin typeface="Arial Black" panose="020B0A04020102020204" pitchFamily="34" charset="0"/>
              </a:rPr>
              <a:t>Category Leaders at a Glance</a:t>
            </a:r>
          </a:p>
          <a:p>
            <a:pPr latinLnBrk="1"/>
            <a:endParaRPr lang="en-US" sz="1100" b="1" u="sng" dirty="0">
              <a:solidFill>
                <a:schemeClr val="accent2"/>
              </a:solidFill>
              <a:latin typeface="Arial Black" panose="020B0A04020102020204" pitchFamily="34" charset="0"/>
            </a:endParaRPr>
          </a:p>
          <a:p>
            <a:pPr marL="171450" indent="-171450" latinLnBrk="1">
              <a:buFont typeface="Arial" panose="020B0604020202020204" pitchFamily="34" charset="0"/>
              <a:buChar char="•"/>
            </a:pPr>
            <a:r>
              <a:rPr lang="en-US" sz="1100" b="1" u="sng" dirty="0">
                <a:solidFill>
                  <a:schemeClr val="accent2"/>
                </a:solidFill>
                <a:latin typeface="Arial Black" panose="020B0A04020102020204" pitchFamily="34" charset="0"/>
              </a:rPr>
              <a:t>Budget Bike: </a:t>
            </a:r>
            <a:r>
              <a:rPr lang="en-US" sz="1100" b="1" dirty="0">
                <a:solidFill>
                  <a:schemeClr val="tx1"/>
                </a:solidFill>
                <a:latin typeface="Arial Black" panose="020B0A04020102020204" pitchFamily="34" charset="0"/>
              </a:rPr>
              <a:t>Lowest verified starting price in the sample.</a:t>
            </a:r>
          </a:p>
          <a:p>
            <a:pPr marL="171450" indent="-171450" latinLnBrk="1">
              <a:buFont typeface="Arial" panose="020B0604020202020204" pitchFamily="34" charset="0"/>
              <a:buChar char="•"/>
            </a:pPr>
            <a:endParaRPr lang="en-US" sz="1100" b="1" dirty="0">
              <a:solidFill>
                <a:schemeClr val="tx1"/>
              </a:solidFill>
              <a:latin typeface="Arial Black" panose="020B0A04020102020204" pitchFamily="34" charset="0"/>
            </a:endParaRPr>
          </a:p>
          <a:p>
            <a:pPr marL="171450" indent="-171450" latinLnBrk="1">
              <a:buFont typeface="Arial" panose="020B0604020202020204" pitchFamily="34" charset="0"/>
              <a:buChar char="•"/>
            </a:pPr>
            <a:r>
              <a:rPr lang="en-US" sz="1100" b="1" u="sng" dirty="0">
                <a:solidFill>
                  <a:schemeClr val="accent2"/>
                </a:solidFill>
                <a:latin typeface="Arial Black" panose="020B0A04020102020204" pitchFamily="34" charset="0"/>
              </a:rPr>
              <a:t>Mileage Leader: </a:t>
            </a:r>
            <a:r>
              <a:rPr lang="en-US" sz="1100" b="1" dirty="0">
                <a:solidFill>
                  <a:schemeClr val="tx1"/>
                </a:solidFill>
                <a:latin typeface="Arial Black" panose="020B0A04020102020204" pitchFamily="34" charset="0"/>
              </a:rPr>
              <a:t>Highest verified reported mileage among petrol bikes.</a:t>
            </a:r>
          </a:p>
          <a:p>
            <a:pPr marL="171450" indent="-171450" latinLnBrk="1">
              <a:buFont typeface="Arial" panose="020B0604020202020204" pitchFamily="34" charset="0"/>
              <a:buChar char="•"/>
            </a:pPr>
            <a:endParaRPr lang="en-US" sz="1100" b="1" u="sng" dirty="0">
              <a:solidFill>
                <a:schemeClr val="accent2"/>
              </a:solidFill>
              <a:latin typeface="Arial Black" panose="020B0A04020102020204" pitchFamily="34" charset="0"/>
            </a:endParaRPr>
          </a:p>
          <a:p>
            <a:pPr marL="171450" indent="-171450" latinLnBrk="1">
              <a:buFont typeface="Arial" panose="020B0604020202020204" pitchFamily="34" charset="0"/>
              <a:buChar char="•"/>
            </a:pPr>
            <a:r>
              <a:rPr lang="en-US" sz="1100" b="1" u="sng" dirty="0">
                <a:solidFill>
                  <a:schemeClr val="accent2"/>
                </a:solidFill>
                <a:latin typeface="Arial Black" panose="020B0A04020102020204" pitchFamily="34" charset="0"/>
              </a:rPr>
              <a:t>Electric Option: </a:t>
            </a:r>
            <a:r>
              <a:rPr lang="en-US" sz="1100" b="1" dirty="0">
                <a:solidFill>
                  <a:schemeClr val="tx1"/>
                </a:solidFill>
                <a:latin typeface="Arial Black" panose="020B0A04020102020204" pitchFamily="34" charset="0"/>
              </a:rPr>
              <a:t>Compare starting price, battery capacity, and claimed range where available.</a:t>
            </a:r>
            <a:endParaRPr lang="en-IN" sz="1100" dirty="0">
              <a:solidFill>
                <a:schemeClr val="tx1"/>
              </a:solidFill>
            </a:endParaRPr>
          </a:p>
        </p:txBody>
      </p:sp>
    </p:spTree>
    <p:extLst>
      <p:ext uri="{BB962C8B-B14F-4D97-AF65-F5344CB8AC3E}">
        <p14:creationId xmlns:p14="http://schemas.microsoft.com/office/powerpoint/2010/main" val="256395545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clean_content_bg15.png"/>
          <p:cNvPicPr>
            <a:picLocks noChangeAspect="1"/>
          </p:cNvPicPr>
          <p:nvPr/>
        </p:nvPicPr>
        <p:blipFill>
          <a:blip r:embed="rId2"/>
          <a:stretch>
            <a:fillRect/>
          </a:stretch>
        </p:blipFill>
        <p:spPr>
          <a:xfrm>
            <a:off x="0" y="0"/>
            <a:ext cx="12192000" cy="6216162"/>
          </a:xfrm>
          <a:prstGeom prst="rect">
            <a:avLst/>
          </a:prstGeom>
        </p:spPr>
      </p:pic>
      <p:sp>
        <p:nvSpPr>
          <p:cNvPr id="8" name="TextBox 7"/>
          <p:cNvSpPr txBox="1"/>
          <p:nvPr/>
        </p:nvSpPr>
        <p:spPr>
          <a:xfrm>
            <a:off x="1710983" y="466344"/>
            <a:ext cx="9509760" cy="523220"/>
          </a:xfrm>
          <a:prstGeom prst="rect">
            <a:avLst/>
          </a:prstGeom>
          <a:noFill/>
        </p:spPr>
        <p:txBody>
          <a:bodyPr wrap="square" anchor="t">
            <a:spAutoFit/>
          </a:bodyPr>
          <a:lstStyle/>
          <a:p>
            <a:pPr algn="l">
              <a:defRPr sz="2300" b="1">
                <a:solidFill>
                  <a:srgbClr val="D5242B"/>
                </a:solidFill>
                <a:latin typeface="Aptos"/>
              </a:defRPr>
            </a:pPr>
            <a:r>
              <a:rPr sz="2800" dirty="0">
                <a:effectLst>
                  <a:outerShdw blurRad="38100" dist="38100" dir="2700000" algn="tl">
                    <a:srgbClr val="000000">
                      <a:alpha val="43137"/>
                    </a:srgbClr>
                  </a:outerShdw>
                </a:effectLst>
                <a:latin typeface="Arial Black" panose="020B0A04020102020204" pitchFamily="34" charset="0"/>
              </a:rPr>
              <a:t>Conclusion</a:t>
            </a:r>
          </a:p>
        </p:txBody>
      </p:sp>
      <p:sp>
        <p:nvSpPr>
          <p:cNvPr id="9" name="Rectangle 8"/>
          <p:cNvSpPr/>
          <p:nvPr/>
        </p:nvSpPr>
        <p:spPr>
          <a:xfrm>
            <a:off x="1789234" y="966704"/>
            <a:ext cx="10058400" cy="22860"/>
          </a:xfrm>
          <a:prstGeom prst="rect">
            <a:avLst/>
          </a:prstGeom>
          <a:solidFill>
            <a:srgbClr val="DADC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710983" y="1215255"/>
            <a:ext cx="9842809" cy="3785652"/>
          </a:xfrm>
          <a:prstGeom prst="rect">
            <a:avLst/>
          </a:prstGeom>
          <a:noFill/>
        </p:spPr>
        <p:txBody>
          <a:bodyPr wrap="square" anchor="t">
            <a:spAutoFit/>
          </a:bodyPr>
          <a:lstStyle/>
          <a:p>
            <a:pPr algn="just"/>
            <a:r>
              <a:rPr lang="en-US" sz="2000" dirty="0"/>
              <a:t>This project demonstrates an end-to-end workflow for collecting bike specifications from </a:t>
            </a:r>
            <a:r>
              <a:rPr lang="en-US" sz="2000" dirty="0" err="1"/>
              <a:t>BikeWale</a:t>
            </a:r>
            <a:r>
              <a:rPr lang="en-US" sz="2000" dirty="0"/>
              <a:t>, cleaning the scraped data, and performing univariate, bivariate, and multivariate Exploratory Data Analysis (EDA). The cleaned dataset contains 65 bike records across 22 brands. The analysis reveals considerable variation in bike prices, with most records concentrated in lower price ranges and a few premium models extending the distribution. Price shows positive associations with engine capacity and power, while mileage shows a negative association with price in the available sample. The analysis also highlights the importance of handling missing values, checking suspicious specifications, and comparing electric and petrol bikes using appropriate features. Overall, the project provides a data-driven approach to comparing bikes according to buyer priorities, while the findings remain limited to the collected sample and require further source verification.</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6A85B9-E1FA-1EC4-A82E-791D48419F30}"/>
            </a:ext>
          </a:extLst>
        </p:cNvPr>
        <p:cNvGrpSpPr/>
        <p:nvPr/>
      </p:nvGrpSpPr>
      <p:grpSpPr>
        <a:xfrm>
          <a:off x="0" y="0"/>
          <a:ext cx="0" cy="0"/>
          <a:chOff x="0" y="0"/>
          <a:chExt cx="0" cy="0"/>
        </a:xfrm>
      </p:grpSpPr>
      <p:pic>
        <p:nvPicPr>
          <p:cNvPr id="7" name="Picture 6" descr="clean_content_bg15.png">
            <a:extLst>
              <a:ext uri="{FF2B5EF4-FFF2-40B4-BE49-F238E27FC236}">
                <a16:creationId xmlns:a16="http://schemas.microsoft.com/office/drawing/2014/main" id="{8F2E0CA3-28F7-A5B3-4AF0-313920452A31}"/>
              </a:ext>
            </a:extLst>
          </p:cNvPr>
          <p:cNvPicPr>
            <a:picLocks noChangeAspect="1"/>
          </p:cNvPicPr>
          <p:nvPr/>
        </p:nvPicPr>
        <p:blipFill>
          <a:blip r:embed="rId3"/>
          <a:stretch>
            <a:fillRect/>
          </a:stretch>
        </p:blipFill>
        <p:spPr>
          <a:xfrm>
            <a:off x="2931" y="0"/>
            <a:ext cx="12192000" cy="6268915"/>
          </a:xfrm>
          <a:prstGeom prst="rect">
            <a:avLst/>
          </a:prstGeom>
        </p:spPr>
      </p:pic>
      <p:pic>
        <p:nvPicPr>
          <p:cNvPr id="3" name="Picture 2" descr="template_thankyou_clean15.png">
            <a:extLst>
              <a:ext uri="{FF2B5EF4-FFF2-40B4-BE49-F238E27FC236}">
                <a16:creationId xmlns:a16="http://schemas.microsoft.com/office/drawing/2014/main" id="{8E0999C6-55F9-F332-81A2-37CCE7AF27B5}"/>
              </a:ext>
            </a:extLst>
          </p:cNvPr>
          <p:cNvPicPr>
            <a:picLocks noChangeAspect="1"/>
          </p:cNvPicPr>
          <p:nvPr/>
        </p:nvPicPr>
        <p:blipFill>
          <a:blip r:embed="rId4"/>
          <a:stretch>
            <a:fillRect/>
          </a:stretch>
        </p:blipFill>
        <p:spPr>
          <a:xfrm>
            <a:off x="3001108" y="1153284"/>
            <a:ext cx="6523892" cy="4428441"/>
          </a:xfrm>
          <a:prstGeom prst="rect">
            <a:avLst/>
          </a:prstGeom>
        </p:spPr>
      </p:pic>
      <p:sp>
        <p:nvSpPr>
          <p:cNvPr id="5" name="TextBox 4">
            <a:extLst>
              <a:ext uri="{FF2B5EF4-FFF2-40B4-BE49-F238E27FC236}">
                <a16:creationId xmlns:a16="http://schemas.microsoft.com/office/drawing/2014/main" id="{C4D0055D-3FE1-5065-8742-26FE564CB8BC}"/>
              </a:ext>
            </a:extLst>
          </p:cNvPr>
          <p:cNvSpPr txBox="1"/>
          <p:nvPr/>
        </p:nvSpPr>
        <p:spPr>
          <a:xfrm>
            <a:off x="3414346" y="476176"/>
            <a:ext cx="5486400" cy="677108"/>
          </a:xfrm>
          <a:prstGeom prst="rect">
            <a:avLst/>
          </a:prstGeom>
          <a:noFill/>
        </p:spPr>
        <p:txBody>
          <a:bodyPr wrap="square" anchor="t">
            <a:spAutoFit/>
          </a:bodyPr>
          <a:lstStyle/>
          <a:p>
            <a:pPr algn="ctr">
              <a:defRPr sz="3800" b="1">
                <a:solidFill>
                  <a:srgbClr val="262626"/>
                </a:solidFill>
                <a:latin typeface="Aptos Display"/>
              </a:defRPr>
            </a:pPr>
            <a:r>
              <a:rPr dirty="0">
                <a:solidFill>
                  <a:srgbClr val="FF0000"/>
                </a:solidFill>
                <a:effectLst>
                  <a:outerShdw blurRad="38100" dist="38100" dir="2700000" algn="tl">
                    <a:srgbClr val="000000">
                      <a:alpha val="43137"/>
                    </a:srgbClr>
                  </a:outerShdw>
                </a:effectLst>
                <a:latin typeface="Arial Black" panose="020B0A04020102020204" pitchFamily="34" charset="0"/>
              </a:rPr>
              <a:t>THANK YOU</a:t>
            </a:r>
          </a:p>
        </p:txBody>
      </p:sp>
    </p:spTree>
    <p:extLst>
      <p:ext uri="{BB962C8B-B14F-4D97-AF65-F5344CB8AC3E}">
        <p14:creationId xmlns:p14="http://schemas.microsoft.com/office/powerpoint/2010/main" val="2163677965"/>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solidFill>
          <a:schemeClr val="bg1"/>
        </a:solidFill>
        <a:effectLst>
          <a:glow rad="63500">
            <a:schemeClr val="accent4">
              <a:satMod val="175000"/>
              <a:alpha val="40000"/>
            </a:schemeClr>
          </a:glow>
          <a:outerShdw blurRad="40000" dist="20000" dir="5400000" rotWithShape="0">
            <a:srgbClr val="000000">
              <a:alpha val="38000"/>
            </a:srgbClr>
          </a:outerShdw>
        </a:effectLst>
      </a:spPr>
      <a:bodyPr wrap="square" anchor="t">
        <a:spAutoFit/>
      </a:bodyPr>
      <a:lstStyle>
        <a:defPPr marL="171450" indent="-171450" algn="just" latinLnBrk="1">
          <a:buFont typeface="Wingdings" panose="05000000000000000000" pitchFamily="2" charset="2"/>
          <a:buChar char="Ø"/>
          <a:defRPr sz="1200" dirty="0" smtClean="0">
            <a:solidFill>
              <a:schemeClr val="tx1"/>
            </a:solidFill>
          </a:defRPr>
        </a:defPPr>
      </a:lstStyle>
      <a:style>
        <a:lnRef idx="1">
          <a:schemeClr val="accent6"/>
        </a:lnRef>
        <a:fillRef idx="2">
          <a:schemeClr val="accent6"/>
        </a:fillRef>
        <a:effectRef idx="1">
          <a:schemeClr val="accent6"/>
        </a:effectRef>
        <a:fontRef idx="minor">
          <a:schemeClr val="dk1"/>
        </a:fontRef>
      </a:style>
    </a:txDef>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382</TotalTime>
  <Words>1592</Words>
  <Application>Microsoft Office PowerPoint</Application>
  <PresentationFormat>Widescreen</PresentationFormat>
  <Paragraphs>215</Paragraphs>
  <Slides>15</Slides>
  <Notes>11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Calibri</vt:lpstr>
      <vt:lpstr>Arial</vt:lpstr>
      <vt:lpstr>Aptos</vt:lpstr>
      <vt:lpstr>Arial Black</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Raghu Ram Aduri</dc:creator>
  <cp:lastModifiedBy>Appaji Sree dharma</cp:lastModifiedBy>
  <cp:revision>7</cp:revision>
  <dcterms:created xsi:type="dcterms:W3CDTF">2021-02-16T05:19:01Z</dcterms:created>
  <dcterms:modified xsi:type="dcterms:W3CDTF">2026-10-29T14:23:59Z</dcterms:modified>
</cp:coreProperties>
</file>